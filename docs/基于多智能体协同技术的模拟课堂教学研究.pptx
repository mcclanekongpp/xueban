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12192000" cy="6858000"/>
  <p:embeddedFontLst>
    <p:embeddedFont>
      <p:font typeface="MiSans" charset="-122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circle-1"/>
          <p:cNvSpPr/>
          <p:nvPr/>
        </p:nvSpPr>
        <p:spPr>
          <a:xfrm>
            <a:off x="8890000" y="-1778000"/>
            <a:ext cx="5080000" cy="5080000"/>
          </a:xfrm>
          <a:prstGeom prst="ellipse">
            <a:avLst/>
          </a:prstGeom>
          <a:solidFill>
            <a:srgbClr val="FFFFFF">
              <a:alpha val="7059"/>
            </a:srgbClr>
          </a:solidFill>
          <a:ln>
            <a:noFill/>
          </a:ln>
        </p:spPr>
      </p:sp>
      <p:sp>
        <p:nvSpPr>
          <p:cNvPr id="3" name="deco-circle-2"/>
          <p:cNvSpPr/>
          <p:nvPr/>
        </p:nvSpPr>
        <p:spPr>
          <a:xfrm>
            <a:off x="10160000" y="4064000"/>
            <a:ext cx="3048000" cy="3048000"/>
          </a:xfrm>
          <a:prstGeom prst="ellipse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</p:sp>
      <p:sp>
        <p:nvSpPr>
          <p:cNvPr id="4" name="deco-circle-3"/>
          <p:cNvSpPr/>
          <p:nvPr/>
        </p:nvSpPr>
        <p:spPr>
          <a:xfrm>
            <a:off x="-1524000" y="4826000"/>
            <a:ext cx="3810000" cy="3810000"/>
          </a:xfrm>
          <a:prstGeom prst="ellipse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</p:sp>
      <p:sp>
        <p:nvSpPr>
          <p:cNvPr id="6" name="cover-title"/>
          <p:cNvSpPr txBox="1"/>
          <p:nvPr/>
        </p:nvSpPr>
        <p:spPr>
          <a:xfrm>
            <a:off x="1016000" y="2413000"/>
            <a:ext cx="10160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基于多智能体协同技术的</a:t>
            </a:r>
            <a:endParaRPr lang="en-US" sz="3600" noProof="1"/>
          </a:p>
        </p:txBody>
      </p:sp>
      <p:sp>
        <p:nvSpPr>
          <p:cNvPr id="7" name="cover-title-2"/>
          <p:cNvSpPr txBox="1"/>
          <p:nvPr/>
        </p:nvSpPr>
        <p:spPr>
          <a:xfrm>
            <a:off x="1016000" y="3175000"/>
            <a:ext cx="10160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模拟课堂教学研究</a:t>
            </a:r>
            <a:endParaRPr lang="en-US" sz="3600" noProof="1"/>
          </a:p>
        </p:txBody>
      </p:sp>
      <p:sp>
        <p:nvSpPr>
          <p:cNvPr id="8" name="cover-accent"/>
          <p:cNvSpPr/>
          <p:nvPr/>
        </p:nvSpPr>
        <p:spPr>
          <a:xfrm>
            <a:off x="5461000" y="4089400"/>
            <a:ext cx="1270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9" name="cover-date"/>
          <p:cNvSpPr txBox="1"/>
          <p:nvPr/>
        </p:nvSpPr>
        <p:spPr>
          <a:xfrm>
            <a:off x="1397000" y="5105400"/>
            <a:ext cx="939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FFFFFF">
                    <a:alpha val="70196"/>
                  </a:srgbClr>
                </a:solidFill>
                <a:latin typeface="MiSans" charset="-122"/>
                <a:ea typeface="MiSans" charset="-122"/>
              </a:rPr>
              <a:t>2026年8月</a:t>
            </a:r>
            <a:endParaRPr lang="en-US" sz="1600" noProof="1">
              <a:solidFill>
                <a:srgbClr val="FFFFFF">
                  <a:alpha val="70196"/>
                </a:srgbClr>
              </a:solidFill>
              <a:latin typeface="MiSans" charset="-122"/>
              <a:ea typeface="MiSans" charset="-122"/>
            </a:endParaRPr>
          </a:p>
        </p:txBody>
      </p:sp>
      <p:sp>
        <p:nvSpPr>
          <p:cNvPr id="10" name="cover-quote"/>
          <p:cNvSpPr txBox="1"/>
          <p:nvPr/>
        </p:nvSpPr>
        <p:spPr>
          <a:xfrm>
            <a:off x="1397000" y="5867400"/>
            <a:ext cx="939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FFFFFF">
                    <a:alpha val="60000"/>
                  </a:srgbClr>
                </a:solidFill>
                <a:latin typeface="MiSans" charset="-122"/>
                <a:ea typeface="MiSans" charset="-122"/>
              </a:rPr>
              <a:t>在真实课堂发生之前，让教学设计先在虚拟学生中"跑一遍"</a:t>
            </a:r>
            <a:endParaRPr lang="en-US" sz="1600" noProof="1">
              <a:solidFill>
                <a:srgbClr val="FFFFFF">
                  <a:alpha val="60000"/>
                </a:srgbClr>
              </a:solidFill>
              <a:latin typeface="MiSans" charset="-122"/>
              <a:ea typeface="MiSans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ag"/>
          <p:cNvSpPr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3" name="hd-tag-text"/>
          <p:cNvSpPr txBox="1"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目录</a:t>
            </a:r>
            <a:endParaRPr lang="en-US" sz="1200" noProof="1"/>
          </a:p>
        </p:txBody>
      </p:sp>
      <p:sp>
        <p:nvSpPr>
          <p:cNvPr id="4" name="hd-divider"/>
          <p:cNvSpPr/>
          <p:nvPr/>
        </p:nvSpPr>
        <p:spPr>
          <a:xfrm>
            <a:off x="1447800" y="304800"/>
            <a:ext cx="381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5" name="hd-title"/>
          <p:cNvSpPr txBox="1"/>
          <p:nvPr/>
        </p:nvSpPr>
        <p:spPr>
          <a:xfrm>
            <a:off x="1625600" y="228600"/>
            <a:ext cx="584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汇报目录</a:t>
            </a:r>
            <a:endParaRPr lang="en-US" sz="2100" noProof="1"/>
          </a:p>
        </p:txBody>
      </p:sp>
      <p:sp>
        <p:nvSpPr>
          <p:cNvPr id="6" name="hd-logo-icon"/>
          <p:cNvSpPr/>
          <p:nvPr/>
        </p:nvSpPr>
        <p:spPr>
          <a:xfrm>
            <a:off x="11049000" y="342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88" y="0"/>
                </a:moveTo>
                <a:lnTo>
                  <a:pt x="128" y="0"/>
                </a:lnTo>
                <a:cubicBezTo>
                  <a:pt x="110" y="0"/>
                  <a:pt x="96" y="14"/>
                  <a:pt x="96" y="32"/>
                </a:cubicBezTo>
                <a:cubicBezTo>
                  <a:pt x="96" y="50"/>
                  <a:pt x="110" y="64"/>
                  <a:pt x="128" y="64"/>
                </a:cubicBezTo>
                <a:lnTo>
                  <a:pt x="128" y="216"/>
                </a:lnTo>
                <a:lnTo>
                  <a:pt x="8" y="426"/>
                </a:lnTo>
                <a:cubicBezTo>
                  <a:pt x="3" y="435"/>
                  <a:pt x="0" y="445"/>
                  <a:pt x="0" y="455"/>
                </a:cubicBezTo>
                <a:cubicBezTo>
                  <a:pt x="0" y="486"/>
                  <a:pt x="26" y="512"/>
                  <a:pt x="57" y="512"/>
                </a:cubicBezTo>
                <a:lnTo>
                  <a:pt x="391" y="512"/>
                </a:lnTo>
                <a:cubicBezTo>
                  <a:pt x="422" y="512"/>
                  <a:pt x="448" y="486"/>
                  <a:pt x="448" y="455"/>
                </a:cubicBezTo>
                <a:cubicBezTo>
                  <a:pt x="448" y="445"/>
                  <a:pt x="445" y="435"/>
                  <a:pt x="441" y="426"/>
                </a:cubicBezTo>
                <a:lnTo>
                  <a:pt x="320" y="216"/>
                </a:lnTo>
                <a:lnTo>
                  <a:pt x="320" y="64"/>
                </a:lnTo>
                <a:cubicBezTo>
                  <a:pt x="338" y="64"/>
                  <a:pt x="352" y="50"/>
                  <a:pt x="352" y="32"/>
                </a:cubicBezTo>
                <a:cubicBezTo>
                  <a:pt x="352" y="14"/>
                  <a:pt x="338" y="0"/>
                  <a:pt x="320" y="0"/>
                </a:cubicBezTo>
                <a:lnTo>
                  <a:pt x="288" y="0"/>
                </a:lnTo>
                <a:close/>
                <a:moveTo>
                  <a:pt x="192" y="216"/>
                </a:moveTo>
                <a:lnTo>
                  <a:pt x="192" y="64"/>
                </a:lnTo>
                <a:lnTo>
                  <a:pt x="256" y="64"/>
                </a:lnTo>
                <a:lnTo>
                  <a:pt x="256" y="216"/>
                </a:lnTo>
                <a:cubicBezTo>
                  <a:pt x="256" y="227"/>
                  <a:pt x="259" y="238"/>
                  <a:pt x="264" y="247"/>
                </a:cubicBezTo>
                <a:lnTo>
                  <a:pt x="306" y="320"/>
                </a:lnTo>
                <a:lnTo>
                  <a:pt x="142" y="320"/>
                </a:lnTo>
                <a:lnTo>
                  <a:pt x="184" y="247"/>
                </a:lnTo>
                <a:cubicBezTo>
                  <a:pt x="189" y="238"/>
                  <a:pt x="192" y="227"/>
                  <a:pt x="192" y="216"/>
                </a:cubicBezTo>
                <a:close/>
              </a:path>
            </a:pathLst>
          </a:custGeom>
          <a:solidFill>
            <a:srgbClr val="003378"/>
          </a:solidFill>
          <a:ln>
            <a:noFill/>
          </a:ln>
        </p:spPr>
      </p:sp>
      <p:sp>
        <p:nvSpPr>
          <p:cNvPr id="7" name="hd-logo-text"/>
          <p:cNvSpPr txBox="1"/>
          <p:nvPr/>
        </p:nvSpPr>
        <p:spPr>
          <a:xfrm>
            <a:off x="6858000" y="330200"/>
            <a:ext cx="4089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基于多智能体协同技术的模拟课堂教学研究</a:t>
            </a:r>
            <a:endParaRPr lang="en-US" sz="1000" noProof="1"/>
          </a:p>
        </p:txBody>
      </p:sp>
      <p:sp>
        <p:nvSpPr>
          <p:cNvPr id="8" name="hd-line"/>
          <p:cNvSpPr/>
          <p:nvPr/>
        </p:nvSpPr>
        <p:spPr>
          <a:xfrm>
            <a:off x="508000" y="762000"/>
            <a:ext cx="11176000" cy="12700"/>
          </a:xfrm>
          <a:prstGeom prst="rect">
            <a:avLst/>
          </a:prstGeom>
          <a:solidFill>
            <a:srgbClr val="D9E1EC"/>
          </a:solidFill>
          <a:ln>
            <a:noFill/>
          </a:ln>
        </p:spPr>
      </p:sp>
      <p:sp>
        <p:nvSpPr>
          <p:cNvPr id="9" name="toc-01-bg"/>
          <p:cNvSpPr/>
          <p:nvPr/>
        </p:nvSpPr>
        <p:spPr>
          <a:xfrm>
            <a:off x="508000" y="1219200"/>
            <a:ext cx="5435600" cy="22860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10" name="toc-01-num"/>
          <p:cNvSpPr txBox="1"/>
          <p:nvPr/>
        </p:nvSpPr>
        <p:spPr>
          <a:xfrm>
            <a:off x="787400" y="1473200"/>
            <a:ext cx="889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01</a:t>
            </a:r>
            <a:endParaRPr lang="en-US" sz="2600" noProof="1"/>
          </a:p>
        </p:txBody>
      </p:sp>
      <p:sp>
        <p:nvSpPr>
          <p:cNvPr id="11" name="toc-01-title"/>
          <p:cNvSpPr txBox="1"/>
          <p:nvPr/>
        </p:nvSpPr>
        <p:spPr>
          <a:xfrm>
            <a:off x="787400" y="2006600"/>
            <a:ext cx="4876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研究背景与问题提出</a:t>
            </a:r>
            <a:endParaRPr lang="en-US" sz="1700" noProof="1"/>
          </a:p>
        </p:txBody>
      </p:sp>
      <p:sp>
        <p:nvSpPr>
          <p:cNvPr id="12" name="toc-01-sub"/>
          <p:cNvSpPr txBox="1"/>
          <p:nvPr/>
        </p:nvSpPr>
        <p:spPr>
          <a:xfrm>
            <a:off x="787400" y="2463800"/>
            <a:ext cx="4876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· 课堂教学是持续作用的动态过程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· 教师备课之困：能设计"怎么教"，难预判"怎么学"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· 传统研究与技术系统的共同困难</a:t>
            </a:r>
            <a:endParaRPr lang="en-US" sz="1150" noProof="1"/>
          </a:p>
        </p:txBody>
      </p:sp>
      <p:sp>
        <p:nvSpPr>
          <p:cNvPr id="13" name="toc-02-bg"/>
          <p:cNvSpPr/>
          <p:nvPr/>
        </p:nvSpPr>
        <p:spPr>
          <a:xfrm>
            <a:off x="6248400" y="1219200"/>
            <a:ext cx="5435600" cy="22860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14" name="toc-02-num"/>
          <p:cNvSpPr txBox="1"/>
          <p:nvPr/>
        </p:nvSpPr>
        <p:spPr>
          <a:xfrm>
            <a:off x="6527800" y="1473200"/>
            <a:ext cx="889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02</a:t>
            </a:r>
            <a:endParaRPr lang="en-US" sz="2600" noProof="1"/>
          </a:p>
        </p:txBody>
      </p:sp>
      <p:sp>
        <p:nvSpPr>
          <p:cNvPr id="15" name="toc-02-title"/>
          <p:cNvSpPr txBox="1"/>
          <p:nvPr/>
        </p:nvSpPr>
        <p:spPr>
          <a:xfrm>
            <a:off x="6527800" y="2006600"/>
            <a:ext cx="4876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研究意义</a:t>
            </a:r>
            <a:endParaRPr lang="en-US" sz="1700" noProof="1"/>
          </a:p>
        </p:txBody>
      </p:sp>
      <p:sp>
        <p:nvSpPr>
          <p:cNvPr id="16" name="toc-02-sub"/>
          <p:cNvSpPr txBox="1"/>
          <p:nvPr/>
        </p:nvSpPr>
        <p:spPr>
          <a:xfrm>
            <a:off x="6527800" y="2463800"/>
            <a:ext cx="4876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· 为课堂模拟建立真实可验证的主体基础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· 把经验与表现转化为可积累的研究证据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· 为可验证教学实验提供方法基础</a:t>
            </a:r>
            <a:endParaRPr lang="en-US" sz="1150" noProof="1"/>
          </a:p>
        </p:txBody>
      </p:sp>
      <p:sp>
        <p:nvSpPr>
          <p:cNvPr id="17" name="toc-03-bg"/>
          <p:cNvSpPr/>
          <p:nvPr/>
        </p:nvSpPr>
        <p:spPr>
          <a:xfrm>
            <a:off x="508000" y="3759200"/>
            <a:ext cx="5435600" cy="22860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18" name="toc-03-num"/>
          <p:cNvSpPr txBox="1"/>
          <p:nvPr/>
        </p:nvSpPr>
        <p:spPr>
          <a:xfrm>
            <a:off x="787400" y="4013200"/>
            <a:ext cx="889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03</a:t>
            </a:r>
            <a:endParaRPr lang="en-US" sz="2600" noProof="1"/>
          </a:p>
        </p:txBody>
      </p:sp>
      <p:sp>
        <p:nvSpPr>
          <p:cNvPr id="19" name="toc-03-title"/>
          <p:cNvSpPr txBox="1"/>
          <p:nvPr/>
        </p:nvSpPr>
        <p:spPr>
          <a:xfrm>
            <a:off x="787400" y="4546600"/>
            <a:ext cx="4876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核心问题与总体思路</a:t>
            </a:r>
            <a:endParaRPr lang="en-US" sz="1700" noProof="1"/>
          </a:p>
        </p:txBody>
      </p:sp>
      <p:sp>
        <p:nvSpPr>
          <p:cNvPr id="20" name="toc-03-sub"/>
          <p:cNvSpPr txBox="1"/>
          <p:nvPr/>
        </p:nvSpPr>
        <p:spPr>
          <a:xfrm>
            <a:off x="787400" y="5003800"/>
            <a:ext cx="4876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· 核心问题：缺少真实差异反应的课堂预演环境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· 首个应用场景：小学一年级科学课堂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· 项目定位与持续建模的总体思路</a:t>
            </a:r>
            <a:endParaRPr lang="en-US" sz="1150" noProof="1"/>
          </a:p>
        </p:txBody>
      </p:sp>
      <p:sp>
        <p:nvSpPr>
          <p:cNvPr id="21" name="toc-04-bg"/>
          <p:cNvSpPr/>
          <p:nvPr/>
        </p:nvSpPr>
        <p:spPr>
          <a:xfrm>
            <a:off x="6248400" y="3759200"/>
            <a:ext cx="5435600" cy="22860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2" name="toc-04-num"/>
          <p:cNvSpPr txBox="1"/>
          <p:nvPr/>
        </p:nvSpPr>
        <p:spPr>
          <a:xfrm>
            <a:off x="6527800" y="4013200"/>
            <a:ext cx="889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04</a:t>
            </a:r>
            <a:endParaRPr lang="en-US" sz="2600" noProof="1"/>
          </a:p>
        </p:txBody>
      </p:sp>
      <p:sp>
        <p:nvSpPr>
          <p:cNvPr id="23" name="toc-04-title"/>
          <p:cNvSpPr txBox="1"/>
          <p:nvPr/>
        </p:nvSpPr>
        <p:spPr>
          <a:xfrm>
            <a:off x="6527800" y="4546600"/>
            <a:ext cx="4876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技术路线与阶段安排</a:t>
            </a:r>
            <a:endParaRPr lang="en-US" sz="1700" noProof="1"/>
          </a:p>
        </p:txBody>
      </p:sp>
      <p:sp>
        <p:nvSpPr>
          <p:cNvPr id="24" name="toc-04-sub"/>
          <p:cNvSpPr txBox="1"/>
          <p:nvPr/>
        </p:nvSpPr>
        <p:spPr>
          <a:xfrm>
            <a:off x="6527800" y="5003800"/>
            <a:ext cx="4876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· 五阶段递进的技术路线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· 第一阶段边界与优先验证目标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· 当前进展与下一步工作</a:t>
            </a:r>
            <a:endParaRPr lang="en-US" sz="1150" noProof="1"/>
          </a:p>
        </p:txBody>
      </p:sp>
      <p:sp>
        <p:nvSpPr>
          <p:cNvPr id="25" name="ft-band"/>
          <p:cNvSpPr/>
          <p:nvPr/>
        </p:nvSpPr>
        <p:spPr>
          <a:xfrm>
            <a:off x="0" y="6375400"/>
            <a:ext cx="12192000" cy="4826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26" name="ft-text"/>
          <p:cNvSpPr txBox="1"/>
          <p:nvPr/>
        </p:nvSpPr>
        <p:spPr>
          <a:xfrm>
            <a:off x="508000" y="6375400"/>
            <a:ext cx="1016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围绕背景、意义、思路、路线四个部分，介绍项目整体研究设想</a:t>
            </a:r>
            <a:endParaRPr lang="en-US" sz="1250" noProof="1"/>
          </a:p>
        </p:txBody>
      </p:sp>
      <p:sp>
        <p:nvSpPr>
          <p:cNvPr id="27" name="ft-page"/>
          <p:cNvSpPr txBox="1"/>
          <p:nvPr/>
        </p:nvSpPr>
        <p:spPr>
          <a:xfrm>
            <a:off x="11176000" y="6375400"/>
            <a:ext cx="76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02 / 16</a:t>
            </a:r>
            <a:endParaRPr lang="en-US" sz="11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-num"/>
          <p:cNvSpPr txBox="1"/>
          <p:nvPr/>
        </p:nvSpPr>
        <p:spPr>
          <a:xfrm>
            <a:off x="711200" y="1524000"/>
            <a:ext cx="4064000" cy="165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0" b="1" noProof="1">
                <a:solidFill>
                  <a:srgbClr val="FFFFFF">
                    <a:alpha val="14118"/>
                  </a:srgbClr>
                </a:solidFill>
                <a:latin typeface="MiSans" charset="-122"/>
                <a:ea typeface="MiSans" charset="-122"/>
              </a:rPr>
              <a:t>01</a:t>
            </a:r>
            <a:endParaRPr lang="en-US" sz="11000" noProof="1"/>
          </a:p>
        </p:txBody>
      </p:sp>
      <p:sp>
        <p:nvSpPr>
          <p:cNvPr id="3" name="ch-kicker"/>
          <p:cNvSpPr txBox="1"/>
          <p:nvPr/>
        </p:nvSpPr>
        <p:spPr>
          <a:xfrm>
            <a:off x="1270000" y="31750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kern="0" spc="400" noProof="1">
                <a:solidFill>
                  <a:srgbClr val="91D6F4"/>
                </a:solidFill>
                <a:latin typeface="MiSans" charset="-122"/>
                <a:ea typeface="MiSans" charset="-122"/>
              </a:rPr>
              <a:t>PART 01</a:t>
            </a:r>
            <a:endParaRPr lang="en-US" sz="1300" noProof="1"/>
          </a:p>
        </p:txBody>
      </p:sp>
      <p:sp>
        <p:nvSpPr>
          <p:cNvPr id="4" name="ch-title"/>
          <p:cNvSpPr txBox="1"/>
          <p:nvPr/>
        </p:nvSpPr>
        <p:spPr>
          <a:xfrm>
            <a:off x="1270000" y="3505200"/>
            <a:ext cx="8128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研究背景与问题提出</a:t>
            </a:r>
            <a:endParaRPr lang="en-US" sz="3400" noProof="1"/>
          </a:p>
        </p:txBody>
      </p:sp>
      <p:sp>
        <p:nvSpPr>
          <p:cNvPr id="5" name="ch-subtitle"/>
          <p:cNvSpPr txBox="1"/>
          <p:nvPr/>
        </p:nvSpPr>
        <p:spPr>
          <a:xfrm>
            <a:off x="1270000" y="4191000"/>
            <a:ext cx="812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91D6F4"/>
                </a:solidFill>
                <a:latin typeface="MiSans" charset="-122"/>
                <a:ea typeface="MiSans" charset="-122"/>
              </a:rPr>
              <a:t>真实课堂的复杂性与现有方法的困难</a:t>
            </a:r>
            <a:endParaRPr lang="en-US" sz="1600" noProof="1"/>
          </a:p>
        </p:txBody>
      </p:sp>
      <p:sp>
        <p:nvSpPr>
          <p:cNvPr id="6" name="ch-line"/>
          <p:cNvSpPr/>
          <p:nvPr/>
        </p:nvSpPr>
        <p:spPr>
          <a:xfrm>
            <a:off x="1270000" y="4800600"/>
            <a:ext cx="1524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h-items"/>
          <p:cNvSpPr txBox="1"/>
          <p:nvPr/>
        </p:nvSpPr>
        <p:spPr>
          <a:xfrm>
            <a:off x="1270000" y="5080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90000"/>
              </a:lnSpc>
            </a:pPr>
            <a:r>
              <a:rPr lang="en-US" sz="1350" noProof="1">
                <a:solidFill>
                  <a:srgbClr val="FFFFFF">
                    <a:alpha val="85098"/>
                  </a:srgbClr>
                </a:solidFill>
                <a:latin typeface="MiSans" charset="-122"/>
                <a:ea typeface="MiSans" charset="-122"/>
              </a:rPr>
              <a:t>· 课堂教学是持续作用的动态过程</a:t>
            </a:r>
            <a:endParaRPr lang="en-US" sz="1350" noProof="1"/>
          </a:p>
          <a:p>
            <a:pPr>
              <a:lnSpc>
                <a:spcPct val="190000"/>
              </a:lnSpc>
            </a:pPr>
            <a:r>
              <a:rPr lang="en-US" sz="1350" noProof="1">
                <a:solidFill>
                  <a:srgbClr val="FFFFFF">
                    <a:alpha val="85098"/>
                  </a:srgbClr>
                </a:solidFill>
                <a:latin typeface="MiSans" charset="-122"/>
                <a:ea typeface="MiSans" charset="-122"/>
              </a:rPr>
              <a:t>· 教师备课之困：能设计"怎么教"，难预判"怎么学"</a:t>
            </a:r>
            <a:endParaRPr lang="en-US" sz="1350" noProof="1"/>
          </a:p>
          <a:p>
            <a:pPr>
              <a:lnSpc>
                <a:spcPct val="190000"/>
              </a:lnSpc>
            </a:pPr>
            <a:r>
              <a:rPr lang="en-US" sz="1350" noProof="1">
                <a:solidFill>
                  <a:srgbClr val="FFFFFF">
                    <a:alpha val="85098"/>
                  </a:srgbClr>
                </a:solidFill>
                <a:latin typeface="MiSans" charset="-122"/>
                <a:ea typeface="MiSans" charset="-122"/>
              </a:rPr>
              <a:t>· 传统教学研究与技术系统的四个共同困难</a:t>
            </a:r>
            <a:endParaRPr lang="en-US" sz="1350" noProof="1"/>
          </a:p>
        </p:txBody>
      </p:sp>
      <p:sp>
        <p:nvSpPr>
          <p:cNvPr id="8" name="ch-page"/>
          <p:cNvSpPr txBox="1"/>
          <p:nvPr/>
        </p:nvSpPr>
        <p:spPr>
          <a:xfrm>
            <a:off x="10922000" y="62484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FFFFFF">
                    <a:alpha val="60000"/>
                  </a:srgbClr>
                </a:solidFill>
                <a:latin typeface="MiSans" charset="-122"/>
                <a:ea typeface="MiSans" charset="-122"/>
              </a:rPr>
              <a:t>03 / 16</a:t>
            </a:r>
            <a:endParaRPr lang="en-US" sz="11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ag"/>
          <p:cNvSpPr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3" name="hd-tag-text"/>
          <p:cNvSpPr txBox="1"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研究背景</a:t>
            </a:r>
            <a:endParaRPr lang="en-US" sz="1200" noProof="1"/>
          </a:p>
        </p:txBody>
      </p:sp>
      <p:sp>
        <p:nvSpPr>
          <p:cNvPr id="4" name="hd-divider"/>
          <p:cNvSpPr/>
          <p:nvPr/>
        </p:nvSpPr>
        <p:spPr>
          <a:xfrm>
            <a:off x="1447800" y="304800"/>
            <a:ext cx="381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5" name="hd-title"/>
          <p:cNvSpPr txBox="1"/>
          <p:nvPr/>
        </p:nvSpPr>
        <p:spPr>
          <a:xfrm>
            <a:off x="1625600" y="228600"/>
            <a:ext cx="711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课堂教学是持续作用的动态过程</a:t>
            </a:r>
            <a:endParaRPr lang="en-US" sz="2100" noProof="1"/>
          </a:p>
        </p:txBody>
      </p:sp>
      <p:sp>
        <p:nvSpPr>
          <p:cNvPr id="6" name="hd-logo-icon"/>
          <p:cNvSpPr/>
          <p:nvPr/>
        </p:nvSpPr>
        <p:spPr>
          <a:xfrm>
            <a:off x="11049000" y="342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88" y="0"/>
                </a:moveTo>
                <a:lnTo>
                  <a:pt x="128" y="0"/>
                </a:lnTo>
                <a:cubicBezTo>
                  <a:pt x="110" y="0"/>
                  <a:pt x="96" y="14"/>
                  <a:pt x="96" y="32"/>
                </a:cubicBezTo>
                <a:cubicBezTo>
                  <a:pt x="96" y="50"/>
                  <a:pt x="110" y="64"/>
                  <a:pt x="128" y="64"/>
                </a:cubicBezTo>
                <a:lnTo>
                  <a:pt x="128" y="216"/>
                </a:lnTo>
                <a:lnTo>
                  <a:pt x="8" y="426"/>
                </a:lnTo>
                <a:cubicBezTo>
                  <a:pt x="3" y="435"/>
                  <a:pt x="0" y="445"/>
                  <a:pt x="0" y="455"/>
                </a:cubicBezTo>
                <a:cubicBezTo>
                  <a:pt x="0" y="486"/>
                  <a:pt x="26" y="512"/>
                  <a:pt x="57" y="512"/>
                </a:cubicBezTo>
                <a:lnTo>
                  <a:pt x="391" y="512"/>
                </a:lnTo>
                <a:cubicBezTo>
                  <a:pt x="422" y="512"/>
                  <a:pt x="448" y="486"/>
                  <a:pt x="448" y="455"/>
                </a:cubicBezTo>
                <a:cubicBezTo>
                  <a:pt x="448" y="445"/>
                  <a:pt x="445" y="435"/>
                  <a:pt x="441" y="426"/>
                </a:cubicBezTo>
                <a:lnTo>
                  <a:pt x="320" y="216"/>
                </a:lnTo>
                <a:lnTo>
                  <a:pt x="320" y="64"/>
                </a:lnTo>
                <a:cubicBezTo>
                  <a:pt x="338" y="64"/>
                  <a:pt x="352" y="50"/>
                  <a:pt x="352" y="32"/>
                </a:cubicBezTo>
                <a:cubicBezTo>
                  <a:pt x="352" y="14"/>
                  <a:pt x="338" y="0"/>
                  <a:pt x="320" y="0"/>
                </a:cubicBezTo>
                <a:lnTo>
                  <a:pt x="288" y="0"/>
                </a:lnTo>
                <a:close/>
                <a:moveTo>
                  <a:pt x="192" y="216"/>
                </a:moveTo>
                <a:lnTo>
                  <a:pt x="192" y="64"/>
                </a:lnTo>
                <a:lnTo>
                  <a:pt x="256" y="64"/>
                </a:lnTo>
                <a:lnTo>
                  <a:pt x="256" y="216"/>
                </a:lnTo>
                <a:cubicBezTo>
                  <a:pt x="256" y="227"/>
                  <a:pt x="259" y="238"/>
                  <a:pt x="264" y="247"/>
                </a:cubicBezTo>
                <a:lnTo>
                  <a:pt x="306" y="320"/>
                </a:lnTo>
                <a:lnTo>
                  <a:pt x="142" y="320"/>
                </a:lnTo>
                <a:lnTo>
                  <a:pt x="184" y="247"/>
                </a:lnTo>
                <a:cubicBezTo>
                  <a:pt x="189" y="238"/>
                  <a:pt x="192" y="227"/>
                  <a:pt x="192" y="216"/>
                </a:cubicBezTo>
                <a:close/>
              </a:path>
            </a:pathLst>
          </a:custGeom>
          <a:solidFill>
            <a:srgbClr val="003378"/>
          </a:solidFill>
          <a:ln>
            <a:noFill/>
          </a:ln>
        </p:spPr>
      </p:sp>
      <p:sp>
        <p:nvSpPr>
          <p:cNvPr id="7" name="hd-logo-text"/>
          <p:cNvSpPr txBox="1"/>
          <p:nvPr/>
        </p:nvSpPr>
        <p:spPr>
          <a:xfrm>
            <a:off x="6858000" y="330200"/>
            <a:ext cx="4089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基于多智能体协同技术的模拟课堂教学研究</a:t>
            </a:r>
            <a:endParaRPr lang="en-US" sz="1000" noProof="1"/>
          </a:p>
        </p:txBody>
      </p:sp>
      <p:sp>
        <p:nvSpPr>
          <p:cNvPr id="8" name="hd-line"/>
          <p:cNvSpPr/>
          <p:nvPr/>
        </p:nvSpPr>
        <p:spPr>
          <a:xfrm>
            <a:off x="508000" y="762000"/>
            <a:ext cx="11176000" cy="12700"/>
          </a:xfrm>
          <a:prstGeom prst="rect">
            <a:avLst/>
          </a:prstGeom>
          <a:solidFill>
            <a:srgbClr val="D9E1EC"/>
          </a:solidFill>
          <a:ln>
            <a:noFill/>
          </a:ln>
        </p:spPr>
      </p:sp>
      <p:sp>
        <p:nvSpPr>
          <p:cNvPr id="9" name="judge-bg"/>
          <p:cNvSpPr/>
          <p:nvPr/>
        </p:nvSpPr>
        <p:spPr>
          <a:xfrm>
            <a:off x="508000" y="1016000"/>
            <a:ext cx="11176000" cy="914400"/>
          </a:xfrm>
          <a:prstGeom prst="roundRect">
            <a:avLst>
              <a:gd name="adj" fmla="val 9000"/>
            </a:avLst>
          </a:prstGeom>
          <a:solidFill>
            <a:srgbClr val="EAF1F8"/>
          </a:solidFill>
          <a:ln w="12700">
            <a:solidFill>
              <a:srgbClr val="003378"/>
            </a:solidFill>
          </a:ln>
        </p:spPr>
      </p:sp>
      <p:sp>
        <p:nvSpPr>
          <p:cNvPr id="10" name="judge-text"/>
          <p:cNvSpPr txBox="1"/>
          <p:nvPr/>
        </p:nvSpPr>
        <p:spPr>
          <a:xfrm>
            <a:off x="812800" y="1117600"/>
            <a:ext cx="10566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5000"/>
              </a:lnSpc>
            </a:pPr>
            <a:r>
              <a:rPr lang="en-US" sz="13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基本判断：</a:t>
            </a:r>
            <a:r>
              <a:rPr lang="en-US" sz="13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课堂教学并不是按照教案机械展开的线性过程，而是</a:t>
            </a:r>
            <a:r>
              <a:rPr lang="en-US" sz="1300" b="1" noProof="1">
                <a:solidFill>
                  <a:srgbClr val="C00000"/>
                </a:solidFill>
                <a:latin typeface="MiSans" charset="-122"/>
                <a:ea typeface="MiSans" charset="-122"/>
              </a:rPr>
              <a:t>教师判断、学生状态、教学内容、任务情境和互动关系</a:t>
            </a:r>
            <a:r>
              <a:rPr lang="en-US" sz="13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持续作用的动态过程。</a:t>
            </a:r>
            <a:endParaRPr lang="en-US" sz="1300" noProof="1"/>
          </a:p>
        </p:txBody>
      </p:sp>
      <p:sp>
        <p:nvSpPr>
          <p:cNvPr id="11" name="c1-bg"/>
          <p:cNvSpPr/>
          <p:nvPr/>
        </p:nvSpPr>
        <p:spPr>
          <a:xfrm>
            <a:off x="508000" y="2108200"/>
            <a:ext cx="5435600" cy="1320800"/>
          </a:xfrm>
          <a:prstGeom prst="roundRect">
            <a:avLst>
              <a:gd name="adj" fmla="val 8000"/>
            </a:avLst>
          </a:prstGeom>
          <a:solidFill>
            <a:srgbClr val="D4E4F0"/>
          </a:solidFill>
          <a:ln>
            <a:noFill/>
          </a:ln>
        </p:spPr>
      </p:sp>
      <p:sp>
        <p:nvSpPr>
          <p:cNvPr id="12" name="c1-title"/>
          <p:cNvSpPr txBox="1"/>
          <p:nvPr/>
        </p:nvSpPr>
        <p:spPr>
          <a:xfrm>
            <a:off x="787400" y="22606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同样的教学行为，不同的课堂结果</a:t>
            </a:r>
            <a:endParaRPr lang="en-US" sz="1400" noProof="1"/>
          </a:p>
        </p:txBody>
      </p:sp>
      <p:sp>
        <p:nvSpPr>
          <p:cNvPr id="13" name="c1-body"/>
          <p:cNvSpPr txBox="1"/>
          <p:nvPr/>
        </p:nvSpPr>
        <p:spPr>
          <a:xfrm>
            <a:off x="787400" y="26162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同样一个问题、一次追问、一次等待，面对不同的学生，可能产生完全不同的结果。</a:t>
            </a:r>
            <a:endParaRPr lang="en-US" sz="1200" noProof="1"/>
          </a:p>
        </p:txBody>
      </p:sp>
      <p:sp>
        <p:nvSpPr>
          <p:cNvPr id="14" name="c2-bg"/>
          <p:cNvSpPr/>
          <p:nvPr/>
        </p:nvSpPr>
        <p:spPr>
          <a:xfrm>
            <a:off x="6248400" y="2108200"/>
            <a:ext cx="5435600" cy="1320800"/>
          </a:xfrm>
          <a:prstGeom prst="roundRect">
            <a:avLst>
              <a:gd name="adj" fmla="val 8000"/>
            </a:avLst>
          </a:prstGeom>
          <a:solidFill>
            <a:srgbClr val="DEEBD9"/>
          </a:solidFill>
          <a:ln>
            <a:noFill/>
          </a:ln>
        </p:spPr>
      </p:sp>
      <p:sp>
        <p:nvSpPr>
          <p:cNvPr id="15" name="c2-title"/>
          <p:cNvSpPr txBox="1"/>
          <p:nvPr/>
        </p:nvSpPr>
        <p:spPr>
          <a:xfrm>
            <a:off x="6527800" y="22606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同一位教师，不同的教学决策</a:t>
            </a:r>
            <a:endParaRPr lang="en-US" sz="1400" noProof="1"/>
          </a:p>
        </p:txBody>
      </p:sp>
      <p:sp>
        <p:nvSpPr>
          <p:cNvPr id="16" name="c2-body"/>
          <p:cNvSpPr txBox="1"/>
          <p:nvPr/>
        </p:nvSpPr>
        <p:spPr>
          <a:xfrm>
            <a:off x="6527800" y="2616200"/>
            <a:ext cx="4876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同一位教师在不同学生、不同课题、不同课堂状态下，也会作出不同的教学决策。</a:t>
            </a:r>
            <a:endParaRPr lang="en-US" sz="1200" noProof="1"/>
          </a:p>
        </p:txBody>
      </p:sp>
      <p:sp>
        <p:nvSpPr>
          <p:cNvPr id="17" name="hard-bg"/>
          <p:cNvSpPr/>
          <p:nvPr/>
        </p:nvSpPr>
        <p:spPr>
          <a:xfrm>
            <a:off x="508000" y="3632200"/>
            <a:ext cx="11176000" cy="2489200"/>
          </a:xfrm>
          <a:prstGeom prst="roundRect">
            <a:avLst>
              <a:gd name="adj" fmla="val 6000"/>
            </a:avLst>
          </a:prstGeom>
          <a:solidFill>
            <a:srgbClr val="FBE5CF"/>
          </a:solidFill>
          <a:ln>
            <a:noFill/>
          </a:ln>
        </p:spPr>
      </p:sp>
      <p:sp>
        <p:nvSpPr>
          <p:cNvPr id="18" name="hard-title"/>
          <p:cNvSpPr txBox="1"/>
          <p:nvPr/>
        </p:nvSpPr>
        <p:spPr>
          <a:xfrm>
            <a:off x="787400" y="38100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C00000"/>
                </a:solidFill>
                <a:latin typeface="MiSans" charset="-122"/>
                <a:ea typeface="MiSans" charset="-122"/>
              </a:rPr>
              <a:t>教师备课之困：能设计"怎么教"，难预判"怎么学"</a:t>
            </a:r>
            <a:endParaRPr lang="en-US" sz="1450" noProof="1"/>
          </a:p>
        </p:txBody>
      </p:sp>
      <p:sp>
        <p:nvSpPr>
          <p:cNvPr id="19" name="hard-body-l"/>
          <p:cNvSpPr txBox="1"/>
          <p:nvPr/>
        </p:nvSpPr>
        <p:spPr>
          <a:xfrm>
            <a:off x="787400" y="4241800"/>
            <a:ext cx="5232400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· 学生已有怎样的</a:t>
            </a:r>
            <a:r>
              <a:rPr lang="en-US" sz="12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生活经验和科学前概念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· 观察同一事物时可能</a:t>
            </a:r>
            <a:r>
              <a:rPr lang="en-US" sz="12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发现什么、遗漏什么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· 开展简单科学操作时可能出现哪些问题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· 学生可能产生哪些</a:t>
            </a:r>
            <a:r>
              <a:rPr lang="en-US" sz="12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典型错误和非预期回答</a:t>
            </a:r>
            <a:endParaRPr lang="en-US" sz="1200" noProof="1"/>
          </a:p>
        </p:txBody>
      </p:sp>
      <p:sp>
        <p:nvSpPr>
          <p:cNvPr id="20" name="hard-body-r"/>
          <p:cNvSpPr txBox="1"/>
          <p:nvPr/>
        </p:nvSpPr>
        <p:spPr>
          <a:xfrm>
            <a:off x="6350000" y="4241800"/>
            <a:ext cx="5080000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· 面对不同学生反应，教师应当</a:t>
            </a:r>
            <a:r>
              <a:rPr lang="en-US" sz="12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如何继续追问和组织探究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· 原有教学设计进入真实课堂后</a:t>
            </a:r>
            <a:r>
              <a:rPr lang="en-US" sz="12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能否顺利实施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· 这些预判只能依赖教师个人经验，难以提前验证</a:t>
            </a:r>
            <a:endParaRPr lang="en-US" sz="1200" noProof="1"/>
          </a:p>
        </p:txBody>
      </p:sp>
      <p:sp>
        <p:nvSpPr>
          <p:cNvPr id="21" name="ft-band"/>
          <p:cNvSpPr/>
          <p:nvPr/>
        </p:nvSpPr>
        <p:spPr>
          <a:xfrm>
            <a:off x="0" y="6375400"/>
            <a:ext cx="12192000" cy="4826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22" name="ft-text"/>
          <p:cNvSpPr txBox="1"/>
          <p:nvPr/>
        </p:nvSpPr>
        <p:spPr>
          <a:xfrm>
            <a:off x="508000" y="6375400"/>
            <a:ext cx="1016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真实课堂的复杂性，是教师教学准备中最难提前把握的部分</a:t>
            </a:r>
            <a:endParaRPr lang="en-US" sz="1250" noProof="1"/>
          </a:p>
        </p:txBody>
      </p:sp>
      <p:sp>
        <p:nvSpPr>
          <p:cNvPr id="23" name="ft-page"/>
          <p:cNvSpPr txBox="1"/>
          <p:nvPr/>
        </p:nvSpPr>
        <p:spPr>
          <a:xfrm>
            <a:off x="11176000" y="6375400"/>
            <a:ext cx="76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04 / 16</a:t>
            </a:r>
            <a:endParaRPr lang="en-US" sz="11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ag"/>
          <p:cNvSpPr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3" name="hd-tag-text"/>
          <p:cNvSpPr txBox="1"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研究背景</a:t>
            </a:r>
            <a:endParaRPr lang="en-US" sz="1200" noProof="1"/>
          </a:p>
        </p:txBody>
      </p:sp>
      <p:sp>
        <p:nvSpPr>
          <p:cNvPr id="4" name="hd-divider"/>
          <p:cNvSpPr/>
          <p:nvPr/>
        </p:nvSpPr>
        <p:spPr>
          <a:xfrm>
            <a:off x="1447800" y="304800"/>
            <a:ext cx="381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5" name="hd-title"/>
          <p:cNvSpPr txBox="1"/>
          <p:nvPr/>
        </p:nvSpPr>
        <p:spPr>
          <a:xfrm>
            <a:off x="1625600" y="228600"/>
            <a:ext cx="711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传统教学研究与技术系统的四个共同困难</a:t>
            </a:r>
            <a:endParaRPr lang="en-US" sz="2100" noProof="1"/>
          </a:p>
        </p:txBody>
      </p:sp>
      <p:sp>
        <p:nvSpPr>
          <p:cNvPr id="6" name="hd-logo-icon"/>
          <p:cNvSpPr/>
          <p:nvPr/>
        </p:nvSpPr>
        <p:spPr>
          <a:xfrm>
            <a:off x="11049000" y="342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88" y="0"/>
                </a:moveTo>
                <a:lnTo>
                  <a:pt x="128" y="0"/>
                </a:lnTo>
                <a:cubicBezTo>
                  <a:pt x="110" y="0"/>
                  <a:pt x="96" y="14"/>
                  <a:pt x="96" y="32"/>
                </a:cubicBezTo>
                <a:cubicBezTo>
                  <a:pt x="96" y="50"/>
                  <a:pt x="110" y="64"/>
                  <a:pt x="128" y="64"/>
                </a:cubicBezTo>
                <a:lnTo>
                  <a:pt x="128" y="216"/>
                </a:lnTo>
                <a:lnTo>
                  <a:pt x="8" y="426"/>
                </a:lnTo>
                <a:cubicBezTo>
                  <a:pt x="3" y="435"/>
                  <a:pt x="0" y="445"/>
                  <a:pt x="0" y="455"/>
                </a:cubicBezTo>
                <a:cubicBezTo>
                  <a:pt x="0" y="486"/>
                  <a:pt x="26" y="512"/>
                  <a:pt x="57" y="512"/>
                </a:cubicBezTo>
                <a:lnTo>
                  <a:pt x="391" y="512"/>
                </a:lnTo>
                <a:cubicBezTo>
                  <a:pt x="422" y="512"/>
                  <a:pt x="448" y="486"/>
                  <a:pt x="448" y="455"/>
                </a:cubicBezTo>
                <a:cubicBezTo>
                  <a:pt x="448" y="445"/>
                  <a:pt x="445" y="435"/>
                  <a:pt x="441" y="426"/>
                </a:cubicBezTo>
                <a:lnTo>
                  <a:pt x="320" y="216"/>
                </a:lnTo>
                <a:lnTo>
                  <a:pt x="320" y="64"/>
                </a:lnTo>
                <a:cubicBezTo>
                  <a:pt x="338" y="64"/>
                  <a:pt x="352" y="50"/>
                  <a:pt x="352" y="32"/>
                </a:cubicBezTo>
                <a:cubicBezTo>
                  <a:pt x="352" y="14"/>
                  <a:pt x="338" y="0"/>
                  <a:pt x="320" y="0"/>
                </a:cubicBezTo>
                <a:lnTo>
                  <a:pt x="288" y="0"/>
                </a:lnTo>
                <a:close/>
                <a:moveTo>
                  <a:pt x="192" y="216"/>
                </a:moveTo>
                <a:lnTo>
                  <a:pt x="192" y="64"/>
                </a:lnTo>
                <a:lnTo>
                  <a:pt x="256" y="64"/>
                </a:lnTo>
                <a:lnTo>
                  <a:pt x="256" y="216"/>
                </a:lnTo>
                <a:cubicBezTo>
                  <a:pt x="256" y="227"/>
                  <a:pt x="259" y="238"/>
                  <a:pt x="264" y="247"/>
                </a:cubicBezTo>
                <a:lnTo>
                  <a:pt x="306" y="320"/>
                </a:lnTo>
                <a:lnTo>
                  <a:pt x="142" y="320"/>
                </a:lnTo>
                <a:lnTo>
                  <a:pt x="184" y="247"/>
                </a:lnTo>
                <a:cubicBezTo>
                  <a:pt x="189" y="238"/>
                  <a:pt x="192" y="227"/>
                  <a:pt x="192" y="216"/>
                </a:cubicBezTo>
                <a:close/>
              </a:path>
            </a:pathLst>
          </a:custGeom>
          <a:solidFill>
            <a:srgbClr val="003378"/>
          </a:solidFill>
          <a:ln>
            <a:noFill/>
          </a:ln>
        </p:spPr>
      </p:sp>
      <p:sp>
        <p:nvSpPr>
          <p:cNvPr id="7" name="hd-logo-text"/>
          <p:cNvSpPr txBox="1"/>
          <p:nvPr/>
        </p:nvSpPr>
        <p:spPr>
          <a:xfrm>
            <a:off x="6858000" y="330200"/>
            <a:ext cx="4089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基于多智能体协同技术的模拟课堂教学研究</a:t>
            </a:r>
            <a:endParaRPr lang="en-US" sz="1000" noProof="1"/>
          </a:p>
        </p:txBody>
      </p:sp>
      <p:sp>
        <p:nvSpPr>
          <p:cNvPr id="8" name="hd-line"/>
          <p:cNvSpPr/>
          <p:nvPr/>
        </p:nvSpPr>
        <p:spPr>
          <a:xfrm>
            <a:off x="508000" y="762000"/>
            <a:ext cx="11176000" cy="12700"/>
          </a:xfrm>
          <a:prstGeom prst="rect">
            <a:avLst/>
          </a:prstGeom>
          <a:solidFill>
            <a:srgbClr val="D9E1EC"/>
          </a:solidFill>
          <a:ln>
            <a:noFill/>
          </a:ln>
        </p:spPr>
      </p:sp>
      <p:sp>
        <p:nvSpPr>
          <p:cNvPr id="9" name="d1-bg"/>
          <p:cNvSpPr/>
          <p:nvPr/>
        </p:nvSpPr>
        <p:spPr>
          <a:xfrm>
            <a:off x="508000" y="1041400"/>
            <a:ext cx="5435600" cy="2387600"/>
          </a:xfrm>
          <a:prstGeom prst="roundRect">
            <a:avLst>
              <a:gd name="adj" fmla="val 6000"/>
            </a:avLst>
          </a:prstGeom>
          <a:solidFill>
            <a:srgbClr val="D4E4F0"/>
          </a:solidFill>
          <a:ln>
            <a:noFill/>
          </a:ln>
        </p:spPr>
      </p:sp>
      <p:sp>
        <p:nvSpPr>
          <p:cNvPr id="10" name="d1-num"/>
          <p:cNvSpPr txBox="1"/>
          <p:nvPr/>
        </p:nvSpPr>
        <p:spPr>
          <a:xfrm>
            <a:off x="787400" y="12192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01</a:t>
            </a:r>
            <a:endParaRPr lang="en-US" sz="2000" noProof="1"/>
          </a:p>
        </p:txBody>
      </p:sp>
      <p:sp>
        <p:nvSpPr>
          <p:cNvPr id="11" name="d1-title"/>
          <p:cNvSpPr txBox="1"/>
          <p:nvPr/>
        </p:nvSpPr>
        <p:spPr>
          <a:xfrm>
            <a:off x="787400" y="16256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课堂中的教师与学生被过度简化</a:t>
            </a:r>
            <a:endParaRPr lang="en-US" sz="1400" noProof="1"/>
          </a:p>
        </p:txBody>
      </p:sp>
      <p:sp>
        <p:nvSpPr>
          <p:cNvPr id="12" name="d1-body"/>
          <p:cNvSpPr txBox="1"/>
          <p:nvPr/>
        </p:nvSpPr>
        <p:spPr>
          <a:xfrm>
            <a:off x="787400" y="2006600"/>
            <a:ext cx="4876800" cy="124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教师容易被表示为"教学风格""教学能力分数"，学生容易被表示为"成绩""知识掌握率"等静态画像，难以刻画真实主体在具体情境中的判断、反应、调整和变化。</a:t>
            </a:r>
            <a:endParaRPr lang="en-US" sz="1200" noProof="1"/>
          </a:p>
        </p:txBody>
      </p:sp>
      <p:sp>
        <p:nvSpPr>
          <p:cNvPr id="13" name="d2-bg"/>
          <p:cNvSpPr/>
          <p:nvPr/>
        </p:nvSpPr>
        <p:spPr>
          <a:xfrm>
            <a:off x="6248400" y="1041400"/>
            <a:ext cx="5435600" cy="2387600"/>
          </a:xfrm>
          <a:prstGeom prst="roundRect">
            <a:avLst>
              <a:gd name="adj" fmla="val 6000"/>
            </a:avLst>
          </a:prstGeom>
          <a:solidFill>
            <a:srgbClr val="DEEBD9"/>
          </a:solidFill>
          <a:ln>
            <a:noFill/>
          </a:ln>
        </p:spPr>
      </p:sp>
      <p:sp>
        <p:nvSpPr>
          <p:cNvPr id="14" name="d2-num"/>
          <p:cNvSpPr txBox="1"/>
          <p:nvPr/>
        </p:nvSpPr>
        <p:spPr>
          <a:xfrm>
            <a:off x="6527800" y="12192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02</a:t>
            </a:r>
            <a:endParaRPr lang="en-US" sz="2000" noProof="1"/>
          </a:p>
        </p:txBody>
      </p:sp>
      <p:sp>
        <p:nvSpPr>
          <p:cNvPr id="15" name="d2-title"/>
          <p:cNvSpPr txBox="1"/>
          <p:nvPr/>
        </p:nvSpPr>
        <p:spPr>
          <a:xfrm>
            <a:off x="6527800" y="16256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一次性测量难以支持动态建模</a:t>
            </a:r>
            <a:endParaRPr lang="en-US" sz="1400" noProof="1"/>
          </a:p>
        </p:txBody>
      </p:sp>
      <p:sp>
        <p:nvSpPr>
          <p:cNvPr id="16" name="d2-body"/>
          <p:cNvSpPr txBox="1"/>
          <p:nvPr/>
        </p:nvSpPr>
        <p:spPr>
          <a:xfrm>
            <a:off x="6527800" y="2006600"/>
            <a:ext cx="4876800" cy="124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问卷、访谈或一次测试能够形成初步认识，但教师和学生的表现具有情境性和发展性，一次回答不足以形成稳定结论。</a:t>
            </a:r>
            <a:endParaRPr lang="en-US" sz="1200" noProof="1"/>
          </a:p>
        </p:txBody>
      </p:sp>
      <p:sp>
        <p:nvSpPr>
          <p:cNvPr id="17" name="d3-bg"/>
          <p:cNvSpPr/>
          <p:nvPr/>
        </p:nvSpPr>
        <p:spPr>
          <a:xfrm>
            <a:off x="508000" y="3606800"/>
            <a:ext cx="5435600" cy="2387600"/>
          </a:xfrm>
          <a:prstGeom prst="roundRect">
            <a:avLst>
              <a:gd name="adj" fmla="val 6000"/>
            </a:avLst>
          </a:prstGeom>
          <a:solidFill>
            <a:srgbClr val="FBE5CF"/>
          </a:solidFill>
          <a:ln>
            <a:noFill/>
          </a:ln>
        </p:spPr>
      </p:sp>
      <p:sp>
        <p:nvSpPr>
          <p:cNvPr id="18" name="d3-num"/>
          <p:cNvSpPr txBox="1"/>
          <p:nvPr/>
        </p:nvSpPr>
        <p:spPr>
          <a:xfrm>
            <a:off x="787400" y="37846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03</a:t>
            </a:r>
            <a:endParaRPr lang="en-US" sz="2000" noProof="1"/>
          </a:p>
        </p:txBody>
      </p:sp>
      <p:sp>
        <p:nvSpPr>
          <p:cNvPr id="19" name="d3-title"/>
          <p:cNvSpPr txBox="1"/>
          <p:nvPr/>
        </p:nvSpPr>
        <p:spPr>
          <a:xfrm>
            <a:off x="787400" y="41910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课堂数据难以转化为主体证据</a:t>
            </a:r>
            <a:endParaRPr lang="en-US" sz="1400" noProof="1"/>
          </a:p>
        </p:txBody>
      </p:sp>
      <p:sp>
        <p:nvSpPr>
          <p:cNvPr id="20" name="d3-body"/>
          <p:cNvSpPr txBox="1"/>
          <p:nvPr/>
        </p:nvSpPr>
        <p:spPr>
          <a:xfrm>
            <a:off x="787400" y="4572000"/>
            <a:ext cx="4876800" cy="124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教师反思、课堂对话、学生表达、任务表现等信息大量存在，但多以文本、语音和事件形式分散保存，缺少"原始记录—证据—主体变量—模型更新"的稳定转换机制。</a:t>
            </a:r>
            <a:endParaRPr lang="en-US" sz="1200" noProof="1"/>
          </a:p>
        </p:txBody>
      </p:sp>
      <p:sp>
        <p:nvSpPr>
          <p:cNvPr id="21" name="d4-bg"/>
          <p:cNvSpPr/>
          <p:nvPr/>
        </p:nvSpPr>
        <p:spPr>
          <a:xfrm>
            <a:off x="6248400" y="3606800"/>
            <a:ext cx="5435600" cy="238760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>
            <a:noFill/>
          </a:ln>
        </p:spPr>
      </p:sp>
      <p:sp>
        <p:nvSpPr>
          <p:cNvPr id="22" name="d4-num"/>
          <p:cNvSpPr txBox="1"/>
          <p:nvPr/>
        </p:nvSpPr>
        <p:spPr>
          <a:xfrm>
            <a:off x="6527800" y="37846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C00000"/>
                </a:solidFill>
                <a:latin typeface="MiSans" charset="-122"/>
                <a:ea typeface="MiSans" charset="-122"/>
              </a:rPr>
              <a:t>04</a:t>
            </a:r>
            <a:endParaRPr lang="en-US" sz="2000" noProof="1"/>
          </a:p>
        </p:txBody>
      </p:sp>
      <p:sp>
        <p:nvSpPr>
          <p:cNvPr id="23" name="d4-title"/>
          <p:cNvSpPr txBox="1"/>
          <p:nvPr/>
        </p:nvSpPr>
        <p:spPr>
          <a:xfrm>
            <a:off x="6527800" y="41910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C00000"/>
                </a:solidFill>
                <a:latin typeface="MiSans" charset="-122"/>
                <a:ea typeface="MiSans" charset="-122"/>
              </a:rPr>
              <a:t>课堂模拟缺少真实主体基础</a:t>
            </a:r>
            <a:endParaRPr lang="en-US" sz="1400" noProof="1"/>
          </a:p>
        </p:txBody>
      </p:sp>
      <p:sp>
        <p:nvSpPr>
          <p:cNvPr id="24" name="d4-body"/>
          <p:cNvSpPr txBox="1"/>
          <p:nvPr/>
        </p:nvSpPr>
        <p:spPr>
          <a:xfrm>
            <a:off x="6527800" y="4572000"/>
            <a:ext cx="4876800" cy="124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若教师和学生智能体只依赖提示词或通用角色描述，模拟结果虽然"像课堂"，却难以说明代表谁、依据什么、能否被真实课堂验证，容易把"可能性"误当成"现实"。</a:t>
            </a:r>
            <a:endParaRPr lang="en-US" sz="1200" noProof="1"/>
          </a:p>
        </p:txBody>
      </p:sp>
      <p:sp>
        <p:nvSpPr>
          <p:cNvPr id="25" name="ft-band"/>
          <p:cNvSpPr/>
          <p:nvPr/>
        </p:nvSpPr>
        <p:spPr>
          <a:xfrm>
            <a:off x="0" y="6375400"/>
            <a:ext cx="12192000" cy="4826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26" name="ft-text"/>
          <p:cNvSpPr txBox="1"/>
          <p:nvPr/>
        </p:nvSpPr>
        <p:spPr>
          <a:xfrm>
            <a:off x="508000" y="6375400"/>
            <a:ext cx="1016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本项目的基本方向由此形成：先建模真实主体，再复现、互动与验证</a:t>
            </a:r>
            <a:endParaRPr lang="en-US" sz="1250" noProof="1"/>
          </a:p>
        </p:txBody>
      </p:sp>
      <p:sp>
        <p:nvSpPr>
          <p:cNvPr id="27" name="ft-page"/>
          <p:cNvSpPr txBox="1"/>
          <p:nvPr/>
        </p:nvSpPr>
        <p:spPr>
          <a:xfrm>
            <a:off x="11176000" y="6375400"/>
            <a:ext cx="76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05 / 16</a:t>
            </a:r>
            <a:endParaRPr lang="en-US" sz="11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-num"/>
          <p:cNvSpPr txBox="1"/>
          <p:nvPr/>
        </p:nvSpPr>
        <p:spPr>
          <a:xfrm>
            <a:off x="711200" y="1524000"/>
            <a:ext cx="4064000" cy="165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0" b="1" noProof="1">
                <a:solidFill>
                  <a:srgbClr val="FFFFFF">
                    <a:alpha val="14118"/>
                  </a:srgbClr>
                </a:solidFill>
                <a:latin typeface="MiSans" charset="-122"/>
                <a:ea typeface="MiSans" charset="-122"/>
              </a:rPr>
              <a:t>02</a:t>
            </a:r>
            <a:endParaRPr lang="en-US" sz="11000" noProof="1"/>
          </a:p>
        </p:txBody>
      </p:sp>
      <p:sp>
        <p:nvSpPr>
          <p:cNvPr id="3" name="ch-kicker"/>
          <p:cNvSpPr txBox="1"/>
          <p:nvPr/>
        </p:nvSpPr>
        <p:spPr>
          <a:xfrm>
            <a:off x="1270000" y="31750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kern="0" spc="400" noProof="1">
                <a:solidFill>
                  <a:srgbClr val="91D6F4"/>
                </a:solidFill>
                <a:latin typeface="MiSans" charset="-122"/>
                <a:ea typeface="MiSans" charset="-122"/>
              </a:rPr>
              <a:t>PART 02</a:t>
            </a:r>
            <a:endParaRPr lang="en-US" sz="1300" noProof="1"/>
          </a:p>
        </p:txBody>
      </p:sp>
      <p:sp>
        <p:nvSpPr>
          <p:cNvPr id="4" name="ch-title"/>
          <p:cNvSpPr txBox="1"/>
          <p:nvPr/>
        </p:nvSpPr>
        <p:spPr>
          <a:xfrm>
            <a:off x="1270000" y="3505200"/>
            <a:ext cx="8128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研究意义</a:t>
            </a:r>
            <a:endParaRPr lang="en-US" sz="3400" noProof="1"/>
          </a:p>
        </p:txBody>
      </p:sp>
      <p:sp>
        <p:nvSpPr>
          <p:cNvPr id="5" name="ch-subtitle"/>
          <p:cNvSpPr txBox="1"/>
          <p:nvPr/>
        </p:nvSpPr>
        <p:spPr>
          <a:xfrm>
            <a:off x="1270000" y="4191000"/>
            <a:ext cx="812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91D6F4"/>
                </a:solidFill>
                <a:latin typeface="MiSans" charset="-122"/>
                <a:ea typeface="MiSans" charset="-122"/>
              </a:rPr>
              <a:t>从课堂模拟到教学研究的基础设施</a:t>
            </a:r>
            <a:endParaRPr lang="en-US" sz="1600" noProof="1"/>
          </a:p>
        </p:txBody>
      </p:sp>
      <p:sp>
        <p:nvSpPr>
          <p:cNvPr id="6" name="ch-line"/>
          <p:cNvSpPr/>
          <p:nvPr/>
        </p:nvSpPr>
        <p:spPr>
          <a:xfrm>
            <a:off x="1270000" y="4800600"/>
            <a:ext cx="1524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h-items"/>
          <p:cNvSpPr txBox="1"/>
          <p:nvPr/>
        </p:nvSpPr>
        <p:spPr>
          <a:xfrm>
            <a:off x="1270000" y="5080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90000"/>
              </a:lnSpc>
            </a:pPr>
            <a:r>
              <a:rPr lang="en-US" sz="1350" noProof="1">
                <a:solidFill>
                  <a:srgbClr val="FFFFFF">
                    <a:alpha val="85098"/>
                  </a:srgbClr>
                </a:solidFill>
                <a:latin typeface="MiSans" charset="-122"/>
                <a:ea typeface="MiSans" charset="-122"/>
              </a:rPr>
              <a:t>· 为课堂模拟建立真实、可验证的主体基础</a:t>
            </a:r>
            <a:endParaRPr lang="en-US" sz="1350" noProof="1"/>
          </a:p>
          <a:p>
            <a:pPr>
              <a:lnSpc>
                <a:spcPct val="190000"/>
              </a:lnSpc>
            </a:pPr>
            <a:r>
              <a:rPr lang="en-US" sz="1350" noProof="1">
                <a:solidFill>
                  <a:srgbClr val="FFFFFF">
                    <a:alpha val="85098"/>
                  </a:srgbClr>
                </a:solidFill>
                <a:latin typeface="MiSans" charset="-122"/>
                <a:ea typeface="MiSans" charset="-122"/>
              </a:rPr>
              <a:t>· 把教师经验和学生表现转化为可积累的研究证据</a:t>
            </a:r>
            <a:endParaRPr lang="en-US" sz="1350" noProof="1"/>
          </a:p>
          <a:p>
            <a:pPr>
              <a:lnSpc>
                <a:spcPct val="190000"/>
              </a:lnSpc>
            </a:pPr>
            <a:r>
              <a:rPr lang="en-US" sz="1350" noProof="1">
                <a:solidFill>
                  <a:srgbClr val="FFFFFF">
                    <a:alpha val="85098"/>
                  </a:srgbClr>
                </a:solidFill>
                <a:latin typeface="MiSans" charset="-122"/>
                <a:ea typeface="MiSans" charset="-122"/>
              </a:rPr>
              <a:t>· 为可验证的教学实验提供方法基础</a:t>
            </a:r>
            <a:endParaRPr lang="en-US" sz="1350" noProof="1"/>
          </a:p>
        </p:txBody>
      </p:sp>
      <p:sp>
        <p:nvSpPr>
          <p:cNvPr id="8" name="ch-page"/>
          <p:cNvSpPr txBox="1"/>
          <p:nvPr/>
        </p:nvSpPr>
        <p:spPr>
          <a:xfrm>
            <a:off x="10922000" y="62484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FFFFFF">
                    <a:alpha val="60000"/>
                  </a:srgbClr>
                </a:solidFill>
                <a:latin typeface="MiSans" charset="-122"/>
                <a:ea typeface="MiSans" charset="-122"/>
              </a:rPr>
              <a:t>06 / 16</a:t>
            </a:r>
            <a:endParaRPr lang="en-US" sz="11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ag"/>
          <p:cNvSpPr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3" name="hd-tag-text"/>
          <p:cNvSpPr txBox="1"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研究意义</a:t>
            </a:r>
            <a:endParaRPr lang="en-US" sz="1200" noProof="1"/>
          </a:p>
        </p:txBody>
      </p:sp>
      <p:sp>
        <p:nvSpPr>
          <p:cNvPr id="4" name="hd-divider"/>
          <p:cNvSpPr/>
          <p:nvPr/>
        </p:nvSpPr>
        <p:spPr>
          <a:xfrm>
            <a:off x="1447800" y="304800"/>
            <a:ext cx="381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5" name="hd-title"/>
          <p:cNvSpPr txBox="1"/>
          <p:nvPr/>
        </p:nvSpPr>
        <p:spPr>
          <a:xfrm>
            <a:off x="1625600" y="228600"/>
            <a:ext cx="711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研究意义的三个层面</a:t>
            </a:r>
            <a:endParaRPr lang="en-US" sz="2100" noProof="1"/>
          </a:p>
        </p:txBody>
      </p:sp>
      <p:sp>
        <p:nvSpPr>
          <p:cNvPr id="6" name="hd-logo-icon"/>
          <p:cNvSpPr/>
          <p:nvPr/>
        </p:nvSpPr>
        <p:spPr>
          <a:xfrm>
            <a:off x="11049000" y="342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88" y="0"/>
                </a:moveTo>
                <a:lnTo>
                  <a:pt x="128" y="0"/>
                </a:lnTo>
                <a:cubicBezTo>
                  <a:pt x="110" y="0"/>
                  <a:pt x="96" y="14"/>
                  <a:pt x="96" y="32"/>
                </a:cubicBezTo>
                <a:cubicBezTo>
                  <a:pt x="96" y="50"/>
                  <a:pt x="110" y="64"/>
                  <a:pt x="128" y="64"/>
                </a:cubicBezTo>
                <a:lnTo>
                  <a:pt x="128" y="216"/>
                </a:lnTo>
                <a:lnTo>
                  <a:pt x="8" y="426"/>
                </a:lnTo>
                <a:cubicBezTo>
                  <a:pt x="3" y="435"/>
                  <a:pt x="0" y="445"/>
                  <a:pt x="0" y="455"/>
                </a:cubicBezTo>
                <a:cubicBezTo>
                  <a:pt x="0" y="486"/>
                  <a:pt x="26" y="512"/>
                  <a:pt x="57" y="512"/>
                </a:cubicBezTo>
                <a:lnTo>
                  <a:pt x="391" y="512"/>
                </a:lnTo>
                <a:cubicBezTo>
                  <a:pt x="422" y="512"/>
                  <a:pt x="448" y="486"/>
                  <a:pt x="448" y="455"/>
                </a:cubicBezTo>
                <a:cubicBezTo>
                  <a:pt x="448" y="445"/>
                  <a:pt x="445" y="435"/>
                  <a:pt x="441" y="426"/>
                </a:cubicBezTo>
                <a:lnTo>
                  <a:pt x="320" y="216"/>
                </a:lnTo>
                <a:lnTo>
                  <a:pt x="320" y="64"/>
                </a:lnTo>
                <a:cubicBezTo>
                  <a:pt x="338" y="64"/>
                  <a:pt x="352" y="50"/>
                  <a:pt x="352" y="32"/>
                </a:cubicBezTo>
                <a:cubicBezTo>
                  <a:pt x="352" y="14"/>
                  <a:pt x="338" y="0"/>
                  <a:pt x="320" y="0"/>
                </a:cubicBezTo>
                <a:lnTo>
                  <a:pt x="288" y="0"/>
                </a:lnTo>
                <a:close/>
                <a:moveTo>
                  <a:pt x="192" y="216"/>
                </a:moveTo>
                <a:lnTo>
                  <a:pt x="192" y="64"/>
                </a:lnTo>
                <a:lnTo>
                  <a:pt x="256" y="64"/>
                </a:lnTo>
                <a:lnTo>
                  <a:pt x="256" y="216"/>
                </a:lnTo>
                <a:cubicBezTo>
                  <a:pt x="256" y="227"/>
                  <a:pt x="259" y="238"/>
                  <a:pt x="264" y="247"/>
                </a:cubicBezTo>
                <a:lnTo>
                  <a:pt x="306" y="320"/>
                </a:lnTo>
                <a:lnTo>
                  <a:pt x="142" y="320"/>
                </a:lnTo>
                <a:lnTo>
                  <a:pt x="184" y="247"/>
                </a:lnTo>
                <a:cubicBezTo>
                  <a:pt x="189" y="238"/>
                  <a:pt x="192" y="227"/>
                  <a:pt x="192" y="216"/>
                </a:cubicBezTo>
                <a:close/>
              </a:path>
            </a:pathLst>
          </a:custGeom>
          <a:solidFill>
            <a:srgbClr val="003378"/>
          </a:solidFill>
          <a:ln>
            <a:noFill/>
          </a:ln>
        </p:spPr>
      </p:sp>
      <p:sp>
        <p:nvSpPr>
          <p:cNvPr id="7" name="hd-logo-text"/>
          <p:cNvSpPr txBox="1"/>
          <p:nvPr/>
        </p:nvSpPr>
        <p:spPr>
          <a:xfrm>
            <a:off x="6858000" y="330200"/>
            <a:ext cx="4089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基于多智能体协同技术的模拟课堂教学研究</a:t>
            </a:r>
            <a:endParaRPr lang="en-US" sz="1000" noProof="1"/>
          </a:p>
        </p:txBody>
      </p:sp>
      <p:sp>
        <p:nvSpPr>
          <p:cNvPr id="8" name="hd-line"/>
          <p:cNvSpPr/>
          <p:nvPr/>
        </p:nvSpPr>
        <p:spPr>
          <a:xfrm>
            <a:off x="508000" y="762000"/>
            <a:ext cx="11176000" cy="12700"/>
          </a:xfrm>
          <a:prstGeom prst="rect">
            <a:avLst/>
          </a:prstGeom>
          <a:solidFill>
            <a:srgbClr val="D9E1EC"/>
          </a:solidFill>
          <a:ln>
            <a:noFill/>
          </a:ln>
        </p:spPr>
      </p:sp>
      <p:sp>
        <p:nvSpPr>
          <p:cNvPr id="9" name="m1-bg"/>
          <p:cNvSpPr/>
          <p:nvPr/>
        </p:nvSpPr>
        <p:spPr>
          <a:xfrm>
            <a:off x="508000" y="1549400"/>
            <a:ext cx="3556000" cy="3759200"/>
          </a:xfrm>
          <a:prstGeom prst="roundRect">
            <a:avLst>
              <a:gd name="adj" fmla="val 5000"/>
            </a:avLst>
          </a:prstGeom>
          <a:solidFill>
            <a:srgbClr val="D4E4F0"/>
          </a:solidFill>
          <a:ln>
            <a:noFill/>
          </a:ln>
        </p:spPr>
      </p:sp>
      <p:sp>
        <p:nvSpPr>
          <p:cNvPr id="10" name="m1-head"/>
          <p:cNvSpPr/>
          <p:nvPr/>
        </p:nvSpPr>
        <p:spPr>
          <a:xfrm>
            <a:off x="508000" y="1549400"/>
            <a:ext cx="3556000" cy="812800"/>
          </a:xfrm>
          <a:prstGeom prst="roundRect">
            <a:avLst>
              <a:gd name="adj" fmla="val 5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11" name="m1-head-text"/>
          <p:cNvSpPr txBox="1"/>
          <p:nvPr/>
        </p:nvSpPr>
        <p:spPr>
          <a:xfrm>
            <a:off x="711200" y="1549400"/>
            <a:ext cx="3149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4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为课堂模拟建立真实、可验证的主体基础</a:t>
            </a:r>
            <a:endParaRPr lang="en-US" sz="1450" noProof="1"/>
          </a:p>
        </p:txBody>
      </p:sp>
      <p:sp>
        <p:nvSpPr>
          <p:cNvPr id="12" name="m1-body"/>
          <p:cNvSpPr txBox="1"/>
          <p:nvPr/>
        </p:nvSpPr>
        <p:spPr>
          <a:xfrm>
            <a:off x="787400" y="2641600"/>
            <a:ext cx="2997200" cy="375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多智能体模拟的关键并不在于智能体的数量，而在于每个智能体的行为是否建立在</a:t>
            </a:r>
            <a:r>
              <a:rPr lang="en-US" sz="12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可追溯的主体证据</a:t>
            </a: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之上。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通过对真实教师和真实学生的持续建模，虚拟教师、虚拟学生不再依赖通用角色描述，而是基于真实主体的当前状态、典型证据和行为边界进行复现。</a:t>
            </a:r>
            <a:endParaRPr lang="en-US" sz="1200" noProof="1"/>
          </a:p>
        </p:txBody>
      </p:sp>
      <p:sp>
        <p:nvSpPr>
          <p:cNvPr id="13" name="m2-bg"/>
          <p:cNvSpPr/>
          <p:nvPr/>
        </p:nvSpPr>
        <p:spPr>
          <a:xfrm>
            <a:off x="4318000" y="1549400"/>
            <a:ext cx="3556000" cy="3759200"/>
          </a:xfrm>
          <a:prstGeom prst="roundRect">
            <a:avLst>
              <a:gd name="adj" fmla="val 5000"/>
            </a:avLst>
          </a:prstGeom>
          <a:solidFill>
            <a:srgbClr val="DEEBD9"/>
          </a:solidFill>
          <a:ln>
            <a:noFill/>
          </a:ln>
        </p:spPr>
      </p:sp>
      <p:sp>
        <p:nvSpPr>
          <p:cNvPr id="14" name="m2-head"/>
          <p:cNvSpPr/>
          <p:nvPr/>
        </p:nvSpPr>
        <p:spPr>
          <a:xfrm>
            <a:off x="4318000" y="1549400"/>
            <a:ext cx="3556000" cy="812800"/>
          </a:xfrm>
          <a:prstGeom prst="roundRect">
            <a:avLst>
              <a:gd name="adj" fmla="val 5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15" name="m2-head-text"/>
          <p:cNvSpPr txBox="1"/>
          <p:nvPr/>
        </p:nvSpPr>
        <p:spPr>
          <a:xfrm>
            <a:off x="4521200" y="1549400"/>
            <a:ext cx="3149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4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把教师经验和学生表现转化为可积累的研究证据</a:t>
            </a:r>
            <a:endParaRPr lang="en-US" sz="1450" noProof="1"/>
          </a:p>
        </p:txBody>
      </p:sp>
      <p:sp>
        <p:nvSpPr>
          <p:cNvPr id="16" name="m2-body"/>
          <p:cNvSpPr txBox="1"/>
          <p:nvPr/>
        </p:nvSpPr>
        <p:spPr>
          <a:xfrm>
            <a:off x="4597400" y="2641600"/>
            <a:ext cx="2997200" cy="375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教师的重要专业知识存在于</a:t>
            </a:r>
            <a:r>
              <a:rPr lang="en-US" sz="12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真实教学事件</a:t>
            </a: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之中，学生的关键特征存在于真实的观察、操作和表达之中。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通过主体模型和证据链机制，这些原本分散、难以保存的经验，可以转化为持续积累、可供研究使用的材料，支持一种不同于一次性测评的动态建模方法。</a:t>
            </a:r>
            <a:endParaRPr lang="en-US" sz="1200" noProof="1"/>
          </a:p>
        </p:txBody>
      </p:sp>
      <p:sp>
        <p:nvSpPr>
          <p:cNvPr id="17" name="m3-bg"/>
          <p:cNvSpPr/>
          <p:nvPr/>
        </p:nvSpPr>
        <p:spPr>
          <a:xfrm>
            <a:off x="8128000" y="1549400"/>
            <a:ext cx="3556000" cy="3759200"/>
          </a:xfrm>
          <a:prstGeom prst="roundRect">
            <a:avLst>
              <a:gd name="adj" fmla="val 5000"/>
            </a:avLst>
          </a:prstGeom>
          <a:solidFill>
            <a:srgbClr val="FBE5CF"/>
          </a:solidFill>
          <a:ln>
            <a:noFill/>
          </a:ln>
        </p:spPr>
      </p:sp>
      <p:sp>
        <p:nvSpPr>
          <p:cNvPr id="18" name="m3-head"/>
          <p:cNvSpPr/>
          <p:nvPr/>
        </p:nvSpPr>
        <p:spPr>
          <a:xfrm>
            <a:off x="8128000" y="1549400"/>
            <a:ext cx="3556000" cy="812800"/>
          </a:xfrm>
          <a:prstGeom prst="roundRect">
            <a:avLst>
              <a:gd name="adj" fmla="val 5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19" name="m3-head-text"/>
          <p:cNvSpPr txBox="1"/>
          <p:nvPr/>
        </p:nvSpPr>
        <p:spPr>
          <a:xfrm>
            <a:off x="8331200" y="1549400"/>
            <a:ext cx="3149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4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为可验证的教学实验提供方法基础</a:t>
            </a:r>
            <a:endParaRPr lang="en-US" sz="1450" noProof="1"/>
          </a:p>
        </p:txBody>
      </p:sp>
      <p:sp>
        <p:nvSpPr>
          <p:cNvPr id="20" name="m3-body"/>
          <p:cNvSpPr txBox="1"/>
          <p:nvPr/>
        </p:nvSpPr>
        <p:spPr>
          <a:xfrm>
            <a:off x="8407400" y="2641600"/>
            <a:ext cx="2997200" cy="375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当主体模型能够接受真实课堂证据校准，课堂模拟才有可能进入真正的实验验证：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模拟某种课堂过程 → 与真实课堂对照 → 找出误差 → 修正模型。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模拟课堂由此不再只是演示工具，而成为一种新的教学研究基础设施。</a:t>
            </a:r>
            <a:endParaRPr lang="en-US" sz="1200" noProof="1"/>
          </a:p>
        </p:txBody>
      </p:sp>
      <p:sp>
        <p:nvSpPr>
          <p:cNvPr id="21" name="ft-band"/>
          <p:cNvSpPr/>
          <p:nvPr/>
        </p:nvSpPr>
        <p:spPr>
          <a:xfrm>
            <a:off x="0" y="6375400"/>
            <a:ext cx="12192000" cy="4826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22" name="ft-text"/>
          <p:cNvSpPr txBox="1"/>
          <p:nvPr/>
        </p:nvSpPr>
        <p:spPr>
          <a:xfrm>
            <a:off x="508000" y="6375400"/>
            <a:ext cx="1016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主体模型是对主体的"当前工作假设"，随证据持续生长、可解释、可修正</a:t>
            </a:r>
            <a:endParaRPr lang="en-US" sz="1250" noProof="1"/>
          </a:p>
        </p:txBody>
      </p:sp>
      <p:sp>
        <p:nvSpPr>
          <p:cNvPr id="23" name="ft-page"/>
          <p:cNvSpPr txBox="1"/>
          <p:nvPr/>
        </p:nvSpPr>
        <p:spPr>
          <a:xfrm>
            <a:off x="11176000" y="6375400"/>
            <a:ext cx="76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07 / 16</a:t>
            </a:r>
            <a:endParaRPr lang="en-US" sz="11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-num"/>
          <p:cNvSpPr txBox="1"/>
          <p:nvPr/>
        </p:nvSpPr>
        <p:spPr>
          <a:xfrm>
            <a:off x="711200" y="1524000"/>
            <a:ext cx="4064000" cy="165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0" b="1" noProof="1">
                <a:solidFill>
                  <a:srgbClr val="FFFFFF">
                    <a:alpha val="14118"/>
                  </a:srgbClr>
                </a:solidFill>
                <a:latin typeface="MiSans" charset="-122"/>
                <a:ea typeface="MiSans" charset="-122"/>
              </a:rPr>
              <a:t>03</a:t>
            </a:r>
            <a:endParaRPr lang="en-US" sz="11000" noProof="1"/>
          </a:p>
        </p:txBody>
      </p:sp>
      <p:sp>
        <p:nvSpPr>
          <p:cNvPr id="3" name="ch-kicker"/>
          <p:cNvSpPr txBox="1"/>
          <p:nvPr/>
        </p:nvSpPr>
        <p:spPr>
          <a:xfrm>
            <a:off x="1270000" y="31750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kern="0" spc="400" noProof="1">
                <a:solidFill>
                  <a:srgbClr val="91D6F4"/>
                </a:solidFill>
                <a:latin typeface="MiSans" charset="-122"/>
                <a:ea typeface="MiSans" charset="-122"/>
              </a:rPr>
              <a:t>PART 03</a:t>
            </a:r>
            <a:endParaRPr lang="en-US" sz="1300" noProof="1"/>
          </a:p>
        </p:txBody>
      </p:sp>
      <p:sp>
        <p:nvSpPr>
          <p:cNvPr id="4" name="ch-title"/>
          <p:cNvSpPr txBox="1"/>
          <p:nvPr/>
        </p:nvSpPr>
        <p:spPr>
          <a:xfrm>
            <a:off x="1270000" y="3505200"/>
            <a:ext cx="8128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核心问题与总体思路</a:t>
            </a:r>
            <a:endParaRPr lang="en-US" sz="3400" noProof="1"/>
          </a:p>
        </p:txBody>
      </p:sp>
      <p:sp>
        <p:nvSpPr>
          <p:cNvPr id="5" name="ch-subtitle"/>
          <p:cNvSpPr txBox="1"/>
          <p:nvPr/>
        </p:nvSpPr>
        <p:spPr>
          <a:xfrm>
            <a:off x="1270000" y="4191000"/>
            <a:ext cx="8636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91D6F4"/>
                </a:solidFill>
                <a:latin typeface="MiSans" charset="-122"/>
                <a:ea typeface="MiSans" charset="-122"/>
              </a:rPr>
              <a:t>先建模真实主体，再复现、互动、模拟与验证</a:t>
            </a:r>
            <a:endParaRPr lang="en-US" sz="1600" noProof="1"/>
          </a:p>
        </p:txBody>
      </p:sp>
      <p:sp>
        <p:nvSpPr>
          <p:cNvPr id="6" name="ch-line"/>
          <p:cNvSpPr/>
          <p:nvPr/>
        </p:nvSpPr>
        <p:spPr>
          <a:xfrm>
            <a:off x="1270000" y="4800600"/>
            <a:ext cx="1524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h-items"/>
          <p:cNvSpPr txBox="1"/>
          <p:nvPr/>
        </p:nvSpPr>
        <p:spPr>
          <a:xfrm>
            <a:off x="1270000" y="5080000"/>
            <a:ext cx="9398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90000"/>
              </a:lnSpc>
            </a:pPr>
            <a:r>
              <a:rPr lang="en-US" sz="1350" noProof="1">
                <a:solidFill>
                  <a:srgbClr val="FFFFFF">
                    <a:alpha val="85098"/>
                  </a:srgbClr>
                </a:solidFill>
                <a:latin typeface="MiSans" charset="-122"/>
                <a:ea typeface="MiSans" charset="-122"/>
              </a:rPr>
              <a:t>· 核心问题：缺少可重复、低风险、具有真实学生差异反应的课堂预演环境</a:t>
            </a:r>
            <a:endParaRPr lang="en-US" sz="1350" noProof="1"/>
          </a:p>
          <a:p>
            <a:pPr>
              <a:lnSpc>
                <a:spcPct val="190000"/>
              </a:lnSpc>
            </a:pPr>
            <a:r>
              <a:rPr lang="en-US" sz="1350" noProof="1">
                <a:solidFill>
                  <a:srgbClr val="FFFFFF">
                    <a:alpha val="85098"/>
                  </a:srgbClr>
                </a:solidFill>
                <a:latin typeface="MiSans" charset="-122"/>
                <a:ea typeface="MiSans" charset="-122"/>
              </a:rPr>
              <a:t>· 首个应用场景：小学一年级科学课堂</a:t>
            </a:r>
            <a:endParaRPr lang="en-US" sz="1350" noProof="1"/>
          </a:p>
          <a:p>
            <a:pPr>
              <a:lnSpc>
                <a:spcPct val="190000"/>
              </a:lnSpc>
            </a:pPr>
            <a:r>
              <a:rPr lang="en-US" sz="1350" noProof="1">
                <a:solidFill>
                  <a:srgbClr val="FFFFFF">
                    <a:alpha val="85098"/>
                  </a:srgbClr>
                </a:solidFill>
                <a:latin typeface="MiSans" charset="-122"/>
                <a:ea typeface="MiSans" charset="-122"/>
              </a:rPr>
              <a:t>· 项目定位：三个"不是"与一条底线</a:t>
            </a:r>
            <a:endParaRPr lang="en-US" sz="1350" noProof="1"/>
          </a:p>
        </p:txBody>
      </p:sp>
      <p:sp>
        <p:nvSpPr>
          <p:cNvPr id="8" name="ch-page"/>
          <p:cNvSpPr txBox="1"/>
          <p:nvPr/>
        </p:nvSpPr>
        <p:spPr>
          <a:xfrm>
            <a:off x="10922000" y="62484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FFFFFF">
                    <a:alpha val="60000"/>
                  </a:srgbClr>
                </a:solidFill>
                <a:latin typeface="MiSans" charset="-122"/>
                <a:ea typeface="MiSans" charset="-122"/>
              </a:rPr>
              <a:t>08 / 16</a:t>
            </a:r>
            <a:endParaRPr lang="en-US" sz="11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ag"/>
          <p:cNvSpPr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3" name="hd-tag-text"/>
          <p:cNvSpPr txBox="1"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核心思路</a:t>
            </a:r>
            <a:endParaRPr lang="en-US" sz="1200" noProof="1"/>
          </a:p>
        </p:txBody>
      </p:sp>
      <p:sp>
        <p:nvSpPr>
          <p:cNvPr id="4" name="hd-divider"/>
          <p:cNvSpPr/>
          <p:nvPr/>
        </p:nvSpPr>
        <p:spPr>
          <a:xfrm>
            <a:off x="1447800" y="304800"/>
            <a:ext cx="381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5" name="hd-title"/>
          <p:cNvSpPr txBox="1"/>
          <p:nvPr/>
        </p:nvSpPr>
        <p:spPr>
          <a:xfrm>
            <a:off x="1625600" y="228600"/>
            <a:ext cx="711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核心问题与应用场景</a:t>
            </a:r>
            <a:endParaRPr lang="en-US" sz="2100" noProof="1"/>
          </a:p>
        </p:txBody>
      </p:sp>
      <p:sp>
        <p:nvSpPr>
          <p:cNvPr id="6" name="hd-logo-icon"/>
          <p:cNvSpPr/>
          <p:nvPr/>
        </p:nvSpPr>
        <p:spPr>
          <a:xfrm>
            <a:off x="11049000" y="342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88" y="0"/>
                </a:moveTo>
                <a:lnTo>
                  <a:pt x="128" y="0"/>
                </a:lnTo>
                <a:cubicBezTo>
                  <a:pt x="110" y="0"/>
                  <a:pt x="96" y="14"/>
                  <a:pt x="96" y="32"/>
                </a:cubicBezTo>
                <a:cubicBezTo>
                  <a:pt x="96" y="50"/>
                  <a:pt x="110" y="64"/>
                  <a:pt x="128" y="64"/>
                </a:cubicBezTo>
                <a:lnTo>
                  <a:pt x="128" y="216"/>
                </a:lnTo>
                <a:lnTo>
                  <a:pt x="8" y="426"/>
                </a:lnTo>
                <a:cubicBezTo>
                  <a:pt x="3" y="435"/>
                  <a:pt x="0" y="445"/>
                  <a:pt x="0" y="455"/>
                </a:cubicBezTo>
                <a:cubicBezTo>
                  <a:pt x="0" y="486"/>
                  <a:pt x="26" y="512"/>
                  <a:pt x="57" y="512"/>
                </a:cubicBezTo>
                <a:lnTo>
                  <a:pt x="391" y="512"/>
                </a:lnTo>
                <a:cubicBezTo>
                  <a:pt x="422" y="512"/>
                  <a:pt x="448" y="486"/>
                  <a:pt x="448" y="455"/>
                </a:cubicBezTo>
                <a:cubicBezTo>
                  <a:pt x="448" y="445"/>
                  <a:pt x="445" y="435"/>
                  <a:pt x="441" y="426"/>
                </a:cubicBezTo>
                <a:lnTo>
                  <a:pt x="320" y="216"/>
                </a:lnTo>
                <a:lnTo>
                  <a:pt x="320" y="64"/>
                </a:lnTo>
                <a:cubicBezTo>
                  <a:pt x="338" y="64"/>
                  <a:pt x="352" y="50"/>
                  <a:pt x="352" y="32"/>
                </a:cubicBezTo>
                <a:cubicBezTo>
                  <a:pt x="352" y="14"/>
                  <a:pt x="338" y="0"/>
                  <a:pt x="320" y="0"/>
                </a:cubicBezTo>
                <a:lnTo>
                  <a:pt x="288" y="0"/>
                </a:lnTo>
                <a:close/>
                <a:moveTo>
                  <a:pt x="192" y="216"/>
                </a:moveTo>
                <a:lnTo>
                  <a:pt x="192" y="64"/>
                </a:lnTo>
                <a:lnTo>
                  <a:pt x="256" y="64"/>
                </a:lnTo>
                <a:lnTo>
                  <a:pt x="256" y="216"/>
                </a:lnTo>
                <a:cubicBezTo>
                  <a:pt x="256" y="227"/>
                  <a:pt x="259" y="238"/>
                  <a:pt x="264" y="247"/>
                </a:cubicBezTo>
                <a:lnTo>
                  <a:pt x="306" y="320"/>
                </a:lnTo>
                <a:lnTo>
                  <a:pt x="142" y="320"/>
                </a:lnTo>
                <a:lnTo>
                  <a:pt x="184" y="247"/>
                </a:lnTo>
                <a:cubicBezTo>
                  <a:pt x="189" y="238"/>
                  <a:pt x="192" y="227"/>
                  <a:pt x="192" y="216"/>
                </a:cubicBezTo>
                <a:close/>
              </a:path>
            </a:pathLst>
          </a:custGeom>
          <a:solidFill>
            <a:srgbClr val="003378"/>
          </a:solidFill>
          <a:ln>
            <a:noFill/>
          </a:ln>
        </p:spPr>
      </p:sp>
      <p:sp>
        <p:nvSpPr>
          <p:cNvPr id="7" name="hd-logo-text"/>
          <p:cNvSpPr txBox="1"/>
          <p:nvPr/>
        </p:nvSpPr>
        <p:spPr>
          <a:xfrm>
            <a:off x="6858000" y="330200"/>
            <a:ext cx="4089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基于多智能体协同技术的模拟课堂教学研究</a:t>
            </a:r>
            <a:endParaRPr lang="en-US" sz="1000" noProof="1"/>
          </a:p>
        </p:txBody>
      </p:sp>
      <p:sp>
        <p:nvSpPr>
          <p:cNvPr id="8" name="hd-line"/>
          <p:cNvSpPr/>
          <p:nvPr/>
        </p:nvSpPr>
        <p:spPr>
          <a:xfrm>
            <a:off x="508000" y="762000"/>
            <a:ext cx="11176000" cy="12700"/>
          </a:xfrm>
          <a:prstGeom prst="rect">
            <a:avLst/>
          </a:prstGeom>
          <a:solidFill>
            <a:srgbClr val="D9E1EC"/>
          </a:solidFill>
          <a:ln>
            <a:noFill/>
          </a:ln>
        </p:spPr>
      </p:sp>
      <p:sp>
        <p:nvSpPr>
          <p:cNvPr id="9" name="q-bg"/>
          <p:cNvSpPr/>
          <p:nvPr/>
        </p:nvSpPr>
        <p:spPr>
          <a:xfrm>
            <a:off x="508000" y="1016000"/>
            <a:ext cx="11176000" cy="965200"/>
          </a:xfrm>
          <a:prstGeom prst="roundRect">
            <a:avLst>
              <a:gd name="adj" fmla="val 9000"/>
            </a:avLst>
          </a:prstGeom>
          <a:solidFill>
            <a:srgbClr val="EAF1F8"/>
          </a:solidFill>
          <a:ln w="12700">
            <a:solidFill>
              <a:srgbClr val="C00000"/>
            </a:solidFill>
          </a:ln>
        </p:spPr>
      </p:sp>
      <p:sp>
        <p:nvSpPr>
          <p:cNvPr id="10" name="q-label"/>
          <p:cNvSpPr txBox="1"/>
          <p:nvPr/>
        </p:nvSpPr>
        <p:spPr>
          <a:xfrm>
            <a:off x="812800" y="11176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C00000"/>
                </a:solidFill>
                <a:latin typeface="MiSans" charset="-122"/>
                <a:ea typeface="MiSans" charset="-122"/>
              </a:rPr>
              <a:t>核心问题</a:t>
            </a:r>
            <a:endParaRPr lang="en-US" sz="1300" noProof="1"/>
          </a:p>
        </p:txBody>
      </p:sp>
      <p:sp>
        <p:nvSpPr>
          <p:cNvPr id="11" name="q-text"/>
          <p:cNvSpPr txBox="1"/>
          <p:nvPr/>
        </p:nvSpPr>
        <p:spPr>
          <a:xfrm>
            <a:off x="812800" y="14224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35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教师缺少一个</a:t>
            </a:r>
            <a:r>
              <a:rPr lang="en-US" sz="135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可重复、低风险、具有真实学生差异反应</a:t>
            </a:r>
            <a:r>
              <a:rPr lang="en-US" sz="135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的课堂教学预演环境。</a:t>
            </a:r>
            <a:endParaRPr lang="en-US" sz="1350" noProof="1"/>
          </a:p>
        </p:txBody>
      </p:sp>
      <p:sp>
        <p:nvSpPr>
          <p:cNvPr id="12" name="sc-label"/>
          <p:cNvSpPr txBox="1"/>
          <p:nvPr/>
        </p:nvSpPr>
        <p:spPr>
          <a:xfrm>
            <a:off x="508000" y="21590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首个应用场景：以小学一年级科学课堂为例，构建由四部分组成的模拟课堂</a:t>
            </a:r>
            <a:endParaRPr lang="en-US" sz="1300" noProof="1"/>
          </a:p>
        </p:txBody>
      </p:sp>
      <p:sp>
        <p:nvSpPr>
          <p:cNvPr id="13" name="e1-bg"/>
          <p:cNvSpPr/>
          <p:nvPr/>
        </p:nvSpPr>
        <p:spPr>
          <a:xfrm>
            <a:off x="508000" y="2514600"/>
            <a:ext cx="2641600" cy="1117600"/>
          </a:xfrm>
          <a:prstGeom prst="roundRect">
            <a:avLst>
              <a:gd name="adj" fmla="val 8000"/>
            </a:avLst>
          </a:prstGeom>
          <a:solidFill>
            <a:srgbClr val="D4E4F0"/>
          </a:solidFill>
          <a:ln>
            <a:noFill/>
          </a:ln>
        </p:spPr>
      </p:sp>
      <p:sp>
        <p:nvSpPr>
          <p:cNvPr id="14" name="e1-icon"/>
          <p:cNvSpPr/>
          <p:nvPr/>
        </p:nvSpPr>
        <p:spPr>
          <a:xfrm>
            <a:off x="736600" y="2717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56" y="64"/>
                </a:moveTo>
                <a:cubicBezTo>
                  <a:pt x="256" y="29"/>
                  <a:pt x="227" y="0"/>
                  <a:pt x="192" y="0"/>
                </a:cubicBezTo>
                <a:cubicBezTo>
                  <a:pt x="157" y="0"/>
                  <a:pt x="128" y="29"/>
                  <a:pt x="128" y="64"/>
                </a:cubicBezTo>
                <a:cubicBezTo>
                  <a:pt x="128" y="99"/>
                  <a:pt x="157" y="128"/>
                  <a:pt x="192" y="128"/>
                </a:cubicBezTo>
                <a:cubicBezTo>
                  <a:pt x="227" y="128"/>
                  <a:pt x="256" y="99"/>
                  <a:pt x="256" y="64"/>
                </a:cubicBezTo>
                <a:close/>
                <a:moveTo>
                  <a:pt x="153" y="169"/>
                </a:moveTo>
                <a:cubicBezTo>
                  <a:pt x="129" y="161"/>
                  <a:pt x="108" y="145"/>
                  <a:pt x="94" y="124"/>
                </a:cubicBezTo>
                <a:lnTo>
                  <a:pt x="75" y="94"/>
                </a:lnTo>
                <a:cubicBezTo>
                  <a:pt x="65" y="80"/>
                  <a:pt x="45" y="76"/>
                  <a:pt x="30" y="85"/>
                </a:cubicBezTo>
                <a:cubicBezTo>
                  <a:pt x="16" y="95"/>
                  <a:pt x="12" y="115"/>
                  <a:pt x="21" y="130"/>
                </a:cubicBezTo>
                <a:lnTo>
                  <a:pt x="41" y="159"/>
                </a:lnTo>
                <a:cubicBezTo>
                  <a:pt x="59" y="186"/>
                  <a:pt x="84" y="207"/>
                  <a:pt x="112" y="221"/>
                </a:cubicBezTo>
                <a:lnTo>
                  <a:pt x="112" y="480"/>
                </a:lnTo>
                <a:cubicBezTo>
                  <a:pt x="112" y="498"/>
                  <a:pt x="126" y="512"/>
                  <a:pt x="144" y="512"/>
                </a:cubicBezTo>
                <a:cubicBezTo>
                  <a:pt x="162" y="512"/>
                  <a:pt x="176" y="498"/>
                  <a:pt x="176" y="480"/>
                </a:cubicBezTo>
                <a:lnTo>
                  <a:pt x="176" y="384"/>
                </a:lnTo>
                <a:lnTo>
                  <a:pt x="208" y="384"/>
                </a:lnTo>
                <a:lnTo>
                  <a:pt x="208" y="480"/>
                </a:lnTo>
                <a:cubicBezTo>
                  <a:pt x="208" y="498"/>
                  <a:pt x="222" y="512"/>
                  <a:pt x="240" y="512"/>
                </a:cubicBezTo>
                <a:cubicBezTo>
                  <a:pt x="258" y="512"/>
                  <a:pt x="272" y="498"/>
                  <a:pt x="272" y="480"/>
                </a:cubicBezTo>
                <a:lnTo>
                  <a:pt x="272" y="222"/>
                </a:lnTo>
                <a:cubicBezTo>
                  <a:pt x="301" y="207"/>
                  <a:pt x="326" y="185"/>
                  <a:pt x="345" y="157"/>
                </a:cubicBezTo>
                <a:lnTo>
                  <a:pt x="363" y="130"/>
                </a:lnTo>
                <a:cubicBezTo>
                  <a:pt x="373" y="115"/>
                  <a:pt x="368" y="95"/>
                  <a:pt x="354" y="85"/>
                </a:cubicBezTo>
                <a:cubicBezTo>
                  <a:pt x="339" y="76"/>
                  <a:pt x="319" y="80"/>
                  <a:pt x="309" y="95"/>
                </a:cubicBezTo>
                <a:lnTo>
                  <a:pt x="291" y="122"/>
                </a:lnTo>
                <a:cubicBezTo>
                  <a:pt x="269" y="156"/>
                  <a:pt x="232" y="176"/>
                  <a:pt x="192" y="176"/>
                </a:cubicBezTo>
                <a:cubicBezTo>
                  <a:pt x="180" y="176"/>
                  <a:pt x="167" y="174"/>
                  <a:pt x="156" y="170"/>
                </a:cubicBezTo>
                <a:cubicBezTo>
                  <a:pt x="155" y="170"/>
                  <a:pt x="154" y="170"/>
                  <a:pt x="153" y="169"/>
                </a:cubicBezTo>
                <a:close/>
              </a:path>
            </a:pathLst>
          </a:custGeom>
          <a:solidFill>
            <a:srgbClr val="003378"/>
          </a:solidFill>
          <a:ln>
            <a:noFill/>
          </a:ln>
        </p:spPr>
      </p:sp>
      <p:sp>
        <p:nvSpPr>
          <p:cNvPr id="15" name="e1-text"/>
          <p:cNvSpPr txBox="1"/>
          <p:nvPr/>
        </p:nvSpPr>
        <p:spPr>
          <a:xfrm>
            <a:off x="1143000" y="2667000"/>
            <a:ext cx="18542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25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虚拟学生</a:t>
            </a:r>
            <a:endParaRPr lang="en-US" sz="12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50" b="1" noProof="1">
                <a:solidFill>
                  <a:srgbClr val="5A6472"/>
                </a:solidFill>
                <a:latin typeface="MiSans" charset="-122"/>
                <a:ea typeface="MiSans" charset="-122"/>
              </a:rPr>
              <a:t>认知、观察、表达与操作存在差异</a:t>
            </a:r>
            <a:endParaRPr lang="en-US" sz="1250" noProof="1"/>
          </a:p>
        </p:txBody>
      </p:sp>
      <p:sp>
        <p:nvSpPr>
          <p:cNvPr id="16" name="e2-bg"/>
          <p:cNvSpPr/>
          <p:nvPr/>
        </p:nvSpPr>
        <p:spPr>
          <a:xfrm>
            <a:off x="3352800" y="2514600"/>
            <a:ext cx="2641600" cy="1117600"/>
          </a:xfrm>
          <a:prstGeom prst="roundRect">
            <a:avLst>
              <a:gd name="adj" fmla="val 8000"/>
            </a:avLst>
          </a:prstGeom>
          <a:solidFill>
            <a:srgbClr val="DEEBD9"/>
          </a:solidFill>
          <a:ln>
            <a:noFill/>
          </a:ln>
        </p:spPr>
      </p:sp>
      <p:sp>
        <p:nvSpPr>
          <p:cNvPr id="17" name="e2-icon"/>
          <p:cNvSpPr/>
          <p:nvPr/>
        </p:nvSpPr>
        <p:spPr>
          <a:xfrm>
            <a:off x="3581400" y="2717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71" y="7"/>
                </a:moveTo>
                <a:cubicBezTo>
                  <a:pt x="478" y="1"/>
                  <a:pt x="487" y="-2"/>
                  <a:pt x="496" y="1"/>
                </a:cubicBezTo>
                <a:cubicBezTo>
                  <a:pt x="505" y="5"/>
                  <a:pt x="512" y="14"/>
                  <a:pt x="512" y="24"/>
                </a:cubicBezTo>
                <a:lnTo>
                  <a:pt x="512" y="211"/>
                </a:lnTo>
                <a:cubicBezTo>
                  <a:pt x="512" y="342"/>
                  <a:pt x="404" y="448"/>
                  <a:pt x="273" y="448"/>
                </a:cubicBezTo>
                <a:cubicBezTo>
                  <a:pt x="196" y="448"/>
                  <a:pt x="130" y="399"/>
                  <a:pt x="106" y="329"/>
                </a:cubicBezTo>
                <a:cubicBezTo>
                  <a:pt x="70" y="360"/>
                  <a:pt x="48" y="405"/>
                  <a:pt x="48" y="456"/>
                </a:cubicBezTo>
                <a:cubicBezTo>
                  <a:pt x="48" y="469"/>
                  <a:pt x="37" y="480"/>
                  <a:pt x="24" y="480"/>
                </a:cubicBezTo>
                <a:cubicBezTo>
                  <a:pt x="11" y="480"/>
                  <a:pt x="0" y="469"/>
                  <a:pt x="0" y="456"/>
                </a:cubicBezTo>
                <a:cubicBezTo>
                  <a:pt x="0" y="381"/>
                  <a:pt x="38" y="315"/>
                  <a:pt x="96" y="276"/>
                </a:cubicBezTo>
                <a:cubicBezTo>
                  <a:pt x="131" y="253"/>
                  <a:pt x="174" y="240"/>
                  <a:pt x="216" y="240"/>
                </a:cubicBezTo>
                <a:lnTo>
                  <a:pt x="296" y="240"/>
                </a:lnTo>
                <a:cubicBezTo>
                  <a:pt x="309" y="240"/>
                  <a:pt x="320" y="229"/>
                  <a:pt x="320" y="216"/>
                </a:cubicBezTo>
                <a:cubicBezTo>
                  <a:pt x="320" y="203"/>
                  <a:pt x="309" y="192"/>
                  <a:pt x="296" y="192"/>
                </a:cubicBezTo>
                <a:lnTo>
                  <a:pt x="216" y="192"/>
                </a:lnTo>
                <a:cubicBezTo>
                  <a:pt x="176" y="192"/>
                  <a:pt x="139" y="201"/>
                  <a:pt x="105" y="217"/>
                </a:cubicBezTo>
                <a:cubicBezTo>
                  <a:pt x="128" y="147"/>
                  <a:pt x="194" y="96"/>
                  <a:pt x="272" y="96"/>
                </a:cubicBezTo>
                <a:cubicBezTo>
                  <a:pt x="338" y="96"/>
                  <a:pt x="388" y="74"/>
                  <a:pt x="421" y="52"/>
                </a:cubicBezTo>
                <a:cubicBezTo>
                  <a:pt x="440" y="39"/>
                  <a:pt x="456" y="24"/>
                  <a:pt x="471" y="7"/>
                </a:cubicBezTo>
                <a:close/>
              </a:path>
            </a:pathLst>
          </a:custGeom>
          <a:solidFill>
            <a:srgbClr val="003378"/>
          </a:solidFill>
          <a:ln>
            <a:noFill/>
          </a:ln>
        </p:spPr>
      </p:sp>
      <p:sp>
        <p:nvSpPr>
          <p:cNvPr id="18" name="e2-text"/>
          <p:cNvSpPr txBox="1"/>
          <p:nvPr/>
        </p:nvSpPr>
        <p:spPr>
          <a:xfrm>
            <a:off x="3987800" y="2667000"/>
            <a:ext cx="18542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zh-CN" altLang="en-US" sz="125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课堂</a:t>
            </a:r>
            <a:r>
              <a:rPr lang="en-US" sz="125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环境</a:t>
            </a:r>
            <a:endParaRPr lang="en-US" sz="12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zh-CN" altLang="en-US" sz="1050" b="1" noProof="1">
                <a:solidFill>
                  <a:srgbClr val="5A6472"/>
                </a:solidFill>
                <a:latin typeface="MiSans" charset="-122"/>
                <a:ea typeface="MiSans" charset="-122"/>
              </a:rPr>
              <a:t>季节、时间、温度、湿度、</a:t>
            </a:r>
            <a:r>
              <a:rPr lang="zh-CN" altLang="en-US" sz="1050" b="1" noProof="1">
                <a:solidFill>
                  <a:srgbClr val="5A6472"/>
                </a:solidFill>
                <a:latin typeface="MiSans" charset="-122"/>
                <a:ea typeface="MiSans" charset="-122"/>
              </a:rPr>
              <a:t>空气状况</a:t>
            </a:r>
            <a:endParaRPr lang="zh-CN" altLang="en-US" sz="1050" b="1" noProof="1">
              <a:solidFill>
                <a:srgbClr val="5A6472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9" name="e3-bg"/>
          <p:cNvSpPr/>
          <p:nvPr/>
        </p:nvSpPr>
        <p:spPr>
          <a:xfrm>
            <a:off x="6197600" y="2514600"/>
            <a:ext cx="2641600" cy="1117600"/>
          </a:xfrm>
          <a:prstGeom prst="roundRect">
            <a:avLst>
              <a:gd name="adj" fmla="val 8000"/>
            </a:avLst>
          </a:prstGeom>
          <a:solidFill>
            <a:srgbClr val="FBE5CF"/>
          </a:solidFill>
          <a:ln>
            <a:noFill/>
          </a:ln>
        </p:spPr>
      </p:sp>
      <p:sp>
        <p:nvSpPr>
          <p:cNvPr id="20" name="e3-icon"/>
          <p:cNvSpPr/>
          <p:nvPr/>
        </p:nvSpPr>
        <p:spPr>
          <a:xfrm>
            <a:off x="6426200" y="2717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39" y="-10"/>
                </a:moveTo>
                <a:cubicBezTo>
                  <a:pt x="351" y="-1"/>
                  <a:pt x="355" y="14"/>
                  <a:pt x="350" y="28"/>
                </a:cubicBezTo>
                <a:lnTo>
                  <a:pt x="271" y="224"/>
                </a:lnTo>
                <a:lnTo>
                  <a:pt x="416" y="224"/>
                </a:lnTo>
                <a:cubicBezTo>
                  <a:pt x="430" y="224"/>
                  <a:pt x="442" y="232"/>
                  <a:pt x="446" y="245"/>
                </a:cubicBezTo>
                <a:cubicBezTo>
                  <a:pt x="451" y="258"/>
                  <a:pt x="447" y="272"/>
                  <a:pt x="437" y="281"/>
                </a:cubicBezTo>
                <a:lnTo>
                  <a:pt x="149" y="521"/>
                </a:lnTo>
                <a:cubicBezTo>
                  <a:pt x="137" y="530"/>
                  <a:pt x="121" y="531"/>
                  <a:pt x="109" y="522"/>
                </a:cubicBezTo>
                <a:cubicBezTo>
                  <a:pt x="97" y="513"/>
                  <a:pt x="93" y="498"/>
                  <a:pt x="98" y="484"/>
                </a:cubicBezTo>
                <a:lnTo>
                  <a:pt x="177" y="288"/>
                </a:lnTo>
                <a:lnTo>
                  <a:pt x="32" y="288"/>
                </a:lnTo>
                <a:cubicBezTo>
                  <a:pt x="19" y="288"/>
                  <a:pt x="7" y="280"/>
                  <a:pt x="2" y="267"/>
                </a:cubicBezTo>
                <a:cubicBezTo>
                  <a:pt x="-3" y="254"/>
                  <a:pt x="1" y="240"/>
                  <a:pt x="11" y="231"/>
                </a:cubicBezTo>
                <a:lnTo>
                  <a:pt x="300" y="-9"/>
                </a:lnTo>
                <a:cubicBezTo>
                  <a:pt x="311" y="-18"/>
                  <a:pt x="327" y="-19"/>
                  <a:pt x="339" y="-10"/>
                </a:cubicBezTo>
                <a:close/>
              </a:path>
            </a:pathLst>
          </a:custGeom>
          <a:solidFill>
            <a:srgbClr val="003378"/>
          </a:solidFill>
          <a:ln>
            <a:noFill/>
          </a:ln>
        </p:spPr>
      </p:sp>
      <p:sp>
        <p:nvSpPr>
          <p:cNvPr id="21" name="e3-text"/>
          <p:cNvSpPr txBox="1"/>
          <p:nvPr/>
        </p:nvSpPr>
        <p:spPr>
          <a:xfrm>
            <a:off x="6832600" y="2667000"/>
            <a:ext cx="18542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25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课堂事件</a:t>
            </a:r>
            <a:endParaRPr lang="en-US" sz="12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50" b="1" noProof="1">
                <a:solidFill>
                  <a:srgbClr val="5A6472"/>
                </a:solidFill>
                <a:latin typeface="MiSans" charset="-122"/>
                <a:ea typeface="MiSans" charset="-122"/>
              </a:rPr>
              <a:t>典型错误与意外问题动态出现</a:t>
            </a:r>
            <a:endParaRPr lang="en-US" sz="1250" noProof="1"/>
          </a:p>
        </p:txBody>
      </p:sp>
      <p:sp>
        <p:nvSpPr>
          <p:cNvPr id="22" name="e4-bg"/>
          <p:cNvSpPr/>
          <p:nvPr/>
        </p:nvSpPr>
        <p:spPr>
          <a:xfrm>
            <a:off x="9042400" y="2514600"/>
            <a:ext cx="2641600" cy="11176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>
            <a:noFill/>
          </a:ln>
        </p:spPr>
      </p:sp>
      <p:sp>
        <p:nvSpPr>
          <p:cNvPr id="23" name="e4-icon"/>
          <p:cNvSpPr/>
          <p:nvPr/>
        </p:nvSpPr>
        <p:spPr>
          <a:xfrm>
            <a:off x="9271000" y="2717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56" y="0"/>
                </a:moveTo>
                <a:cubicBezTo>
                  <a:pt x="280" y="0"/>
                  <a:pt x="300" y="13"/>
                  <a:pt x="311" y="32"/>
                </a:cubicBezTo>
                <a:lnTo>
                  <a:pt x="320" y="32"/>
                </a:lnTo>
                <a:cubicBezTo>
                  <a:pt x="355" y="32"/>
                  <a:pt x="384" y="61"/>
                  <a:pt x="384" y="96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73" y="32"/>
                </a:lnTo>
                <a:cubicBezTo>
                  <a:pt x="84" y="13"/>
                  <a:pt x="104" y="0"/>
                  <a:pt x="128" y="0"/>
                </a:cubicBezTo>
                <a:lnTo>
                  <a:pt x="256" y="0"/>
                </a:lnTo>
                <a:close/>
                <a:moveTo>
                  <a:pt x="283" y="213"/>
                </a:moveTo>
                <a:cubicBezTo>
                  <a:pt x="272" y="205"/>
                  <a:pt x="257" y="207"/>
                  <a:pt x="249" y="218"/>
                </a:cubicBezTo>
                <a:lnTo>
                  <a:pt x="164" y="336"/>
                </a:lnTo>
                <a:lnTo>
                  <a:pt x="137" y="308"/>
                </a:lnTo>
                <a:cubicBezTo>
                  <a:pt x="128" y="299"/>
                  <a:pt x="113" y="298"/>
                  <a:pt x="103" y="308"/>
                </a:cubicBezTo>
                <a:cubicBezTo>
                  <a:pt x="94" y="317"/>
                  <a:pt x="94" y="332"/>
                  <a:pt x="103" y="342"/>
                </a:cubicBezTo>
                <a:lnTo>
                  <a:pt x="149" y="390"/>
                </a:lnTo>
                <a:cubicBezTo>
                  <a:pt x="154" y="395"/>
                  <a:pt x="161" y="397"/>
                  <a:pt x="168" y="397"/>
                </a:cubicBezTo>
                <a:cubicBezTo>
                  <a:pt x="175" y="396"/>
                  <a:pt x="182" y="393"/>
                  <a:pt x="186" y="387"/>
                </a:cubicBezTo>
                <a:lnTo>
                  <a:pt x="288" y="246"/>
                </a:lnTo>
                <a:cubicBezTo>
                  <a:pt x="296" y="235"/>
                  <a:pt x="294" y="220"/>
                  <a:pt x="283" y="213"/>
                </a:cubicBezTo>
                <a:close/>
                <a:moveTo>
                  <a:pt x="136" y="64"/>
                </a:moveTo>
                <a:cubicBezTo>
                  <a:pt x="123" y="64"/>
                  <a:pt x="112" y="75"/>
                  <a:pt x="112" y="88"/>
                </a:cubicBezTo>
                <a:cubicBezTo>
                  <a:pt x="112" y="101"/>
                  <a:pt x="123" y="112"/>
                  <a:pt x="136" y="112"/>
                </a:cubicBezTo>
                <a:lnTo>
                  <a:pt x="248" y="112"/>
                </a:lnTo>
                <a:cubicBezTo>
                  <a:pt x="261" y="112"/>
                  <a:pt x="272" y="101"/>
                  <a:pt x="272" y="88"/>
                </a:cubicBezTo>
                <a:cubicBezTo>
                  <a:pt x="272" y="75"/>
                  <a:pt x="261" y="64"/>
                  <a:pt x="248" y="64"/>
                </a:cubicBezTo>
                <a:lnTo>
                  <a:pt x="136" y="64"/>
                </a:lnTo>
                <a:close/>
              </a:path>
            </a:pathLst>
          </a:custGeom>
          <a:solidFill>
            <a:srgbClr val="003378"/>
          </a:solidFill>
          <a:ln>
            <a:noFill/>
          </a:ln>
        </p:spPr>
      </p:sp>
      <p:sp>
        <p:nvSpPr>
          <p:cNvPr id="24" name="e4-text"/>
          <p:cNvSpPr txBox="1"/>
          <p:nvPr/>
        </p:nvSpPr>
        <p:spPr>
          <a:xfrm>
            <a:off x="9677400" y="2667000"/>
            <a:ext cx="18542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25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课堂评价机制</a:t>
            </a:r>
            <a:endParaRPr lang="en-US" sz="12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50" b="1" noProof="1">
                <a:solidFill>
                  <a:srgbClr val="5A6472"/>
                </a:solidFill>
                <a:latin typeface="MiSans" charset="-122"/>
                <a:ea typeface="MiSans" charset="-122"/>
              </a:rPr>
              <a:t>基于课堂证据的教学诊断</a:t>
            </a:r>
            <a:endParaRPr lang="en-US" sz="1250" noProof="1"/>
          </a:p>
        </p:txBody>
      </p:sp>
      <p:sp>
        <p:nvSpPr>
          <p:cNvPr id="25" name="fl-label"/>
          <p:cNvSpPr txBox="1"/>
          <p:nvPr/>
        </p:nvSpPr>
        <p:spPr>
          <a:xfrm>
            <a:off x="508000" y="38608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模拟课堂运行流程</a:t>
            </a:r>
            <a:endParaRPr lang="en-US" sz="1300" noProof="1"/>
          </a:p>
        </p:txBody>
      </p:sp>
      <p:sp>
        <p:nvSpPr>
          <p:cNvPr id="26" name="f1-bg"/>
          <p:cNvSpPr/>
          <p:nvPr/>
        </p:nvSpPr>
        <p:spPr>
          <a:xfrm>
            <a:off x="508000" y="4216400"/>
            <a:ext cx="1930400" cy="711200"/>
          </a:xfrm>
          <a:prstGeom prst="roundRect">
            <a:avLst>
              <a:gd name="adj" fmla="val 10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27" name="f1-text"/>
          <p:cNvSpPr txBox="1"/>
          <p:nvPr/>
        </p:nvSpPr>
        <p:spPr>
          <a:xfrm>
            <a:off x="508000" y="4216400"/>
            <a:ext cx="19304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导入教学设计</a:t>
            </a:r>
            <a:endParaRPr lang="en-US" sz="1200" noProof="1"/>
          </a:p>
        </p:txBody>
      </p:sp>
      <p:sp>
        <p:nvSpPr>
          <p:cNvPr id="28" name="fa1"/>
          <p:cNvSpPr/>
          <p:nvPr/>
        </p:nvSpPr>
        <p:spPr>
          <a:xfrm>
            <a:off x="2514600" y="4470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5A6472"/>
          </a:solidFill>
          <a:ln>
            <a:noFill/>
          </a:ln>
        </p:spPr>
      </p:sp>
      <p:sp>
        <p:nvSpPr>
          <p:cNvPr id="29" name="f2-bg"/>
          <p:cNvSpPr/>
          <p:nvPr/>
        </p:nvSpPr>
        <p:spPr>
          <a:xfrm>
            <a:off x="2743200" y="4216400"/>
            <a:ext cx="1930400" cy="711200"/>
          </a:xfrm>
          <a:prstGeom prst="roundRect">
            <a:avLst>
              <a:gd name="adj" fmla="val 10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30" name="f2-text"/>
          <p:cNvSpPr txBox="1"/>
          <p:nvPr/>
        </p:nvSpPr>
        <p:spPr>
          <a:xfrm>
            <a:off x="2743200" y="4216400"/>
            <a:ext cx="19304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生成虚拟班级</a:t>
            </a:r>
            <a:endParaRPr lang="en-US" sz="1200" noProof="1"/>
          </a:p>
        </p:txBody>
      </p:sp>
      <p:sp>
        <p:nvSpPr>
          <p:cNvPr id="31" name="fa2"/>
          <p:cNvSpPr/>
          <p:nvPr/>
        </p:nvSpPr>
        <p:spPr>
          <a:xfrm>
            <a:off x="4749800" y="4470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5A6472"/>
          </a:solidFill>
          <a:ln>
            <a:noFill/>
          </a:ln>
        </p:spPr>
      </p:sp>
      <p:sp>
        <p:nvSpPr>
          <p:cNvPr id="32" name="f3-bg"/>
          <p:cNvSpPr/>
          <p:nvPr/>
        </p:nvSpPr>
        <p:spPr>
          <a:xfrm>
            <a:off x="4978400" y="4216400"/>
            <a:ext cx="1930400" cy="711200"/>
          </a:xfrm>
          <a:prstGeom prst="roundRect">
            <a:avLst>
              <a:gd name="adj" fmla="val 10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33" name="f3-text"/>
          <p:cNvSpPr txBox="1"/>
          <p:nvPr/>
        </p:nvSpPr>
        <p:spPr>
          <a:xfrm>
            <a:off x="4978400" y="4216400"/>
            <a:ext cx="19304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教师模拟教学</a:t>
            </a:r>
            <a:endParaRPr lang="en-US" sz="1200" noProof="1"/>
          </a:p>
        </p:txBody>
      </p:sp>
      <p:sp>
        <p:nvSpPr>
          <p:cNvPr id="34" name="fa3"/>
          <p:cNvSpPr/>
          <p:nvPr/>
        </p:nvSpPr>
        <p:spPr>
          <a:xfrm>
            <a:off x="6985000" y="4470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5A6472"/>
          </a:solidFill>
          <a:ln>
            <a:noFill/>
          </a:ln>
        </p:spPr>
      </p:sp>
      <p:sp>
        <p:nvSpPr>
          <p:cNvPr id="35" name="f4-bg"/>
          <p:cNvSpPr/>
          <p:nvPr/>
        </p:nvSpPr>
        <p:spPr>
          <a:xfrm>
            <a:off x="7213600" y="4216400"/>
            <a:ext cx="1930400" cy="711200"/>
          </a:xfrm>
          <a:prstGeom prst="roundRect">
            <a:avLst>
              <a:gd name="adj" fmla="val 10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36" name="f4-text"/>
          <p:cNvSpPr txBox="1"/>
          <p:nvPr/>
        </p:nvSpPr>
        <p:spPr>
          <a:xfrm>
            <a:off x="7213600" y="4216400"/>
            <a:ext cx="19304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学生差异化反应</a:t>
            </a:r>
            <a:endParaRPr lang="en-US" sz="1200" noProof="1"/>
          </a:p>
        </p:txBody>
      </p:sp>
      <p:sp>
        <p:nvSpPr>
          <p:cNvPr id="37" name="fa4"/>
          <p:cNvSpPr/>
          <p:nvPr/>
        </p:nvSpPr>
        <p:spPr>
          <a:xfrm>
            <a:off x="9220200" y="4470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5A6472"/>
          </a:solidFill>
          <a:ln>
            <a:noFill/>
          </a:ln>
        </p:spPr>
      </p:sp>
      <p:sp>
        <p:nvSpPr>
          <p:cNvPr id="38" name="f5-bg"/>
          <p:cNvSpPr/>
          <p:nvPr/>
        </p:nvSpPr>
        <p:spPr>
          <a:xfrm>
            <a:off x="9448800" y="4216400"/>
            <a:ext cx="1930400" cy="7112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39" name="f5-text"/>
          <p:cNvSpPr txBox="1"/>
          <p:nvPr/>
        </p:nvSpPr>
        <p:spPr>
          <a:xfrm>
            <a:off x="9448800" y="4216400"/>
            <a:ext cx="19304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全过程诊断反馈</a:t>
            </a:r>
            <a:endParaRPr lang="en-US" sz="1200" noProof="1"/>
          </a:p>
        </p:txBody>
      </p:sp>
      <p:sp>
        <p:nvSpPr>
          <p:cNvPr id="40" name="note-bg"/>
          <p:cNvSpPr/>
          <p:nvPr/>
        </p:nvSpPr>
        <p:spPr>
          <a:xfrm>
            <a:off x="508000" y="5181600"/>
            <a:ext cx="11176000" cy="914400"/>
          </a:xfrm>
          <a:prstGeom prst="roundRect">
            <a:avLst>
              <a:gd name="adj" fmla="val 9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41" name="note-text"/>
          <p:cNvSpPr txBox="1"/>
          <p:nvPr/>
        </p:nvSpPr>
        <p:spPr>
          <a:xfrm>
            <a:off x="812800" y="5283200"/>
            <a:ext cx="10566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5000"/>
              </a:lnSpc>
            </a:pPr>
            <a:r>
              <a:rPr lang="en-US" sz="125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课堂模拟的核心不是单轮问答：</a:t>
            </a:r>
            <a:r>
              <a:rPr lang="en-US" sz="125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教师行为改变学生状态，学生状态反过来推动教师重新作出教学决策</a:t>
            </a:r>
            <a:r>
              <a:rPr lang="en-US" sz="125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；模拟结束后，系统基于全过程数据生成基于课堂证据的教学诊断，帮助教师发现并改进教学问题。</a:t>
            </a:r>
            <a:endParaRPr lang="en-US" sz="1250" noProof="1"/>
          </a:p>
        </p:txBody>
      </p:sp>
      <p:sp>
        <p:nvSpPr>
          <p:cNvPr id="42" name="ft-band"/>
          <p:cNvSpPr/>
          <p:nvPr/>
        </p:nvSpPr>
        <p:spPr>
          <a:xfrm>
            <a:off x="0" y="6375400"/>
            <a:ext cx="12192000" cy="4826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43" name="ft-text"/>
          <p:cNvSpPr txBox="1"/>
          <p:nvPr/>
        </p:nvSpPr>
        <p:spPr>
          <a:xfrm>
            <a:off x="508000" y="6375400"/>
            <a:ext cx="1016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在真实课堂发生之前，让教学设计先在虚拟学生中"跑一遍"</a:t>
            </a:r>
            <a:endParaRPr lang="en-US" sz="1250" noProof="1"/>
          </a:p>
        </p:txBody>
      </p:sp>
      <p:sp>
        <p:nvSpPr>
          <p:cNvPr id="44" name="ft-page"/>
          <p:cNvSpPr txBox="1"/>
          <p:nvPr/>
        </p:nvSpPr>
        <p:spPr>
          <a:xfrm>
            <a:off x="11176000" y="6375400"/>
            <a:ext cx="76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09 / 16</a:t>
            </a:r>
            <a:endParaRPr lang="en-US" sz="11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ag"/>
          <p:cNvSpPr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3" name="hd-tag-text"/>
          <p:cNvSpPr txBox="1"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核心思路</a:t>
            </a:r>
            <a:endParaRPr lang="en-US" sz="1200" noProof="1"/>
          </a:p>
        </p:txBody>
      </p:sp>
      <p:sp>
        <p:nvSpPr>
          <p:cNvPr id="4" name="hd-divider"/>
          <p:cNvSpPr/>
          <p:nvPr/>
        </p:nvSpPr>
        <p:spPr>
          <a:xfrm>
            <a:off x="1447800" y="304800"/>
            <a:ext cx="381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5" name="hd-title"/>
          <p:cNvSpPr txBox="1"/>
          <p:nvPr/>
        </p:nvSpPr>
        <p:spPr>
          <a:xfrm>
            <a:off x="1625600" y="228600"/>
            <a:ext cx="711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项目定位：三个"不是"与一条底线</a:t>
            </a:r>
            <a:endParaRPr lang="en-US" sz="2100" noProof="1"/>
          </a:p>
        </p:txBody>
      </p:sp>
      <p:sp>
        <p:nvSpPr>
          <p:cNvPr id="6" name="hd-logo-icon"/>
          <p:cNvSpPr/>
          <p:nvPr/>
        </p:nvSpPr>
        <p:spPr>
          <a:xfrm>
            <a:off x="11049000" y="342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88" y="0"/>
                </a:moveTo>
                <a:lnTo>
                  <a:pt x="128" y="0"/>
                </a:lnTo>
                <a:cubicBezTo>
                  <a:pt x="110" y="0"/>
                  <a:pt x="96" y="14"/>
                  <a:pt x="96" y="32"/>
                </a:cubicBezTo>
                <a:cubicBezTo>
                  <a:pt x="96" y="50"/>
                  <a:pt x="110" y="64"/>
                  <a:pt x="128" y="64"/>
                </a:cubicBezTo>
                <a:lnTo>
                  <a:pt x="128" y="216"/>
                </a:lnTo>
                <a:lnTo>
                  <a:pt x="8" y="426"/>
                </a:lnTo>
                <a:cubicBezTo>
                  <a:pt x="3" y="435"/>
                  <a:pt x="0" y="445"/>
                  <a:pt x="0" y="455"/>
                </a:cubicBezTo>
                <a:cubicBezTo>
                  <a:pt x="0" y="486"/>
                  <a:pt x="26" y="512"/>
                  <a:pt x="57" y="512"/>
                </a:cubicBezTo>
                <a:lnTo>
                  <a:pt x="391" y="512"/>
                </a:lnTo>
                <a:cubicBezTo>
                  <a:pt x="422" y="512"/>
                  <a:pt x="448" y="486"/>
                  <a:pt x="448" y="455"/>
                </a:cubicBezTo>
                <a:cubicBezTo>
                  <a:pt x="448" y="445"/>
                  <a:pt x="445" y="435"/>
                  <a:pt x="441" y="426"/>
                </a:cubicBezTo>
                <a:lnTo>
                  <a:pt x="320" y="216"/>
                </a:lnTo>
                <a:lnTo>
                  <a:pt x="320" y="64"/>
                </a:lnTo>
                <a:cubicBezTo>
                  <a:pt x="338" y="64"/>
                  <a:pt x="352" y="50"/>
                  <a:pt x="352" y="32"/>
                </a:cubicBezTo>
                <a:cubicBezTo>
                  <a:pt x="352" y="14"/>
                  <a:pt x="338" y="0"/>
                  <a:pt x="320" y="0"/>
                </a:cubicBezTo>
                <a:lnTo>
                  <a:pt x="288" y="0"/>
                </a:lnTo>
                <a:close/>
                <a:moveTo>
                  <a:pt x="192" y="216"/>
                </a:moveTo>
                <a:lnTo>
                  <a:pt x="192" y="64"/>
                </a:lnTo>
                <a:lnTo>
                  <a:pt x="256" y="64"/>
                </a:lnTo>
                <a:lnTo>
                  <a:pt x="256" y="216"/>
                </a:lnTo>
                <a:cubicBezTo>
                  <a:pt x="256" y="227"/>
                  <a:pt x="259" y="238"/>
                  <a:pt x="264" y="247"/>
                </a:cubicBezTo>
                <a:lnTo>
                  <a:pt x="306" y="320"/>
                </a:lnTo>
                <a:lnTo>
                  <a:pt x="142" y="320"/>
                </a:lnTo>
                <a:lnTo>
                  <a:pt x="184" y="247"/>
                </a:lnTo>
                <a:cubicBezTo>
                  <a:pt x="189" y="238"/>
                  <a:pt x="192" y="227"/>
                  <a:pt x="192" y="216"/>
                </a:cubicBezTo>
                <a:close/>
              </a:path>
            </a:pathLst>
          </a:custGeom>
          <a:solidFill>
            <a:srgbClr val="003378"/>
          </a:solidFill>
          <a:ln>
            <a:noFill/>
          </a:ln>
        </p:spPr>
      </p:sp>
      <p:sp>
        <p:nvSpPr>
          <p:cNvPr id="7" name="hd-logo-text"/>
          <p:cNvSpPr txBox="1"/>
          <p:nvPr/>
        </p:nvSpPr>
        <p:spPr>
          <a:xfrm>
            <a:off x="6858000" y="330200"/>
            <a:ext cx="4089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基于多智能体协同技术的模拟课堂教学研究</a:t>
            </a:r>
            <a:endParaRPr lang="en-US" sz="1000" noProof="1"/>
          </a:p>
        </p:txBody>
      </p:sp>
      <p:sp>
        <p:nvSpPr>
          <p:cNvPr id="8" name="hd-line"/>
          <p:cNvSpPr/>
          <p:nvPr/>
        </p:nvSpPr>
        <p:spPr>
          <a:xfrm>
            <a:off x="508000" y="762000"/>
            <a:ext cx="11176000" cy="12700"/>
          </a:xfrm>
          <a:prstGeom prst="rect">
            <a:avLst/>
          </a:prstGeom>
          <a:solidFill>
            <a:srgbClr val="D9E1EC"/>
          </a:solidFill>
          <a:ln>
            <a:noFill/>
          </a:ln>
        </p:spPr>
      </p:sp>
      <p:sp>
        <p:nvSpPr>
          <p:cNvPr id="9" name="n1-bg"/>
          <p:cNvSpPr/>
          <p:nvPr/>
        </p:nvSpPr>
        <p:spPr>
          <a:xfrm>
            <a:off x="508000" y="1266825"/>
            <a:ext cx="3556000" cy="2610485"/>
          </a:xfrm>
          <a:prstGeom prst="roundRect">
            <a:avLst>
              <a:gd name="adj" fmla="val 5000"/>
            </a:avLst>
          </a:prstGeom>
          <a:solidFill>
            <a:srgbClr val="D4E4F0"/>
          </a:solidFill>
          <a:ln>
            <a:noFill/>
          </a:ln>
        </p:spPr>
      </p:sp>
      <p:sp>
        <p:nvSpPr>
          <p:cNvPr id="10" name="n1-head"/>
          <p:cNvSpPr/>
          <p:nvPr/>
        </p:nvSpPr>
        <p:spPr>
          <a:xfrm>
            <a:off x="508000" y="1266825"/>
            <a:ext cx="3556000" cy="660400"/>
          </a:xfrm>
          <a:prstGeom prst="roundRect">
            <a:avLst>
              <a:gd name="adj" fmla="val 5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11" name="n1-head-text"/>
          <p:cNvSpPr txBox="1"/>
          <p:nvPr/>
        </p:nvSpPr>
        <p:spPr>
          <a:xfrm>
            <a:off x="711200" y="1266825"/>
            <a:ext cx="31496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不是"智能教案生成器"</a:t>
            </a:r>
            <a:endParaRPr lang="en-US" sz="1450" noProof="1"/>
          </a:p>
        </p:txBody>
      </p:sp>
      <p:sp>
        <p:nvSpPr>
          <p:cNvPr id="12" name="n1-body"/>
          <p:cNvSpPr txBox="1"/>
          <p:nvPr/>
        </p:nvSpPr>
        <p:spPr>
          <a:xfrm>
            <a:off x="787400" y="2209165"/>
            <a:ext cx="2997200" cy="231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目标不是替教师自动生成所谓"最佳教案"。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而是建设一个可用于</a:t>
            </a:r>
            <a:r>
              <a:rPr lang="en-US" sz="12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主体建模、教学推演、比较和验证</a:t>
            </a: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的教学实验空间。</a:t>
            </a:r>
            <a:endParaRPr lang="en-US" sz="1200" noProof="1"/>
          </a:p>
        </p:txBody>
      </p:sp>
      <p:sp>
        <p:nvSpPr>
          <p:cNvPr id="13" name="n2-bg"/>
          <p:cNvSpPr/>
          <p:nvPr/>
        </p:nvSpPr>
        <p:spPr>
          <a:xfrm>
            <a:off x="4318000" y="1266825"/>
            <a:ext cx="3556000" cy="2610485"/>
          </a:xfrm>
          <a:prstGeom prst="roundRect">
            <a:avLst>
              <a:gd name="adj" fmla="val 5000"/>
            </a:avLst>
          </a:prstGeom>
          <a:solidFill>
            <a:srgbClr val="DEEBD9"/>
          </a:solidFill>
          <a:ln>
            <a:noFill/>
          </a:ln>
        </p:spPr>
      </p:sp>
      <p:sp>
        <p:nvSpPr>
          <p:cNvPr id="14" name="n2-head"/>
          <p:cNvSpPr/>
          <p:nvPr/>
        </p:nvSpPr>
        <p:spPr>
          <a:xfrm>
            <a:off x="4318000" y="1266825"/>
            <a:ext cx="3556000" cy="660400"/>
          </a:xfrm>
          <a:prstGeom prst="roundRect">
            <a:avLst>
              <a:gd name="adj" fmla="val 5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15" name="n2-head-text"/>
          <p:cNvSpPr txBox="1"/>
          <p:nvPr/>
        </p:nvSpPr>
        <p:spPr>
          <a:xfrm>
            <a:off x="4521200" y="1266825"/>
            <a:ext cx="31496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不是"师生测评系统"</a:t>
            </a:r>
            <a:endParaRPr lang="en-US" sz="1450" noProof="1"/>
          </a:p>
        </p:txBody>
      </p:sp>
      <p:sp>
        <p:nvSpPr>
          <p:cNvPr id="16" name="n2-body"/>
          <p:cNvSpPr txBox="1"/>
          <p:nvPr/>
        </p:nvSpPr>
        <p:spPr>
          <a:xfrm>
            <a:off x="4597400" y="2209165"/>
            <a:ext cx="2997200" cy="231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模型中的编码、置信度和证据状态，只用于描述当前认识与证据强弱。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不用于绩效考核、教师排名、学生分班、能力定级等</a:t>
            </a:r>
            <a:r>
              <a:rPr lang="en-US" sz="12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高风险决策</a:t>
            </a: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。</a:t>
            </a:r>
            <a:endParaRPr lang="en-US" sz="1200" noProof="1"/>
          </a:p>
        </p:txBody>
      </p:sp>
      <p:sp>
        <p:nvSpPr>
          <p:cNvPr id="17" name="n3-bg"/>
          <p:cNvSpPr/>
          <p:nvPr/>
        </p:nvSpPr>
        <p:spPr>
          <a:xfrm>
            <a:off x="8128000" y="1266825"/>
            <a:ext cx="3556000" cy="2610485"/>
          </a:xfrm>
          <a:prstGeom prst="roundRect">
            <a:avLst>
              <a:gd name="adj" fmla="val 5000"/>
            </a:avLst>
          </a:prstGeom>
          <a:solidFill>
            <a:srgbClr val="FBE5CF"/>
          </a:solidFill>
          <a:ln>
            <a:noFill/>
          </a:ln>
        </p:spPr>
      </p:sp>
      <p:sp>
        <p:nvSpPr>
          <p:cNvPr id="18" name="n3-head"/>
          <p:cNvSpPr/>
          <p:nvPr/>
        </p:nvSpPr>
        <p:spPr>
          <a:xfrm>
            <a:off x="8128000" y="1266825"/>
            <a:ext cx="3556000" cy="660400"/>
          </a:xfrm>
          <a:prstGeom prst="roundRect">
            <a:avLst>
              <a:gd name="adj" fmla="val 5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19" name="n3-head-text"/>
          <p:cNvSpPr txBox="1"/>
          <p:nvPr/>
        </p:nvSpPr>
        <p:spPr>
          <a:xfrm>
            <a:off x="8331200" y="1266825"/>
            <a:ext cx="31496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不是"模拟现实本身"</a:t>
            </a:r>
            <a:endParaRPr lang="en-US" sz="1450" noProof="1"/>
          </a:p>
        </p:txBody>
      </p:sp>
      <p:sp>
        <p:nvSpPr>
          <p:cNvPr id="20" name="n3-body"/>
          <p:cNvSpPr txBox="1"/>
          <p:nvPr/>
        </p:nvSpPr>
        <p:spPr>
          <a:xfrm>
            <a:off x="8407400" y="2209165"/>
            <a:ext cx="2997200" cy="231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模拟输出的是当前证据与模型条件下的</a:t>
            </a:r>
            <a:r>
              <a:rPr lang="en-US" sz="12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可能过程与可能结果</a:t>
            </a: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。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系统必须保留不确定性，不能替代教师对具体学生、具体内容和具体情境的专业判断。</a:t>
            </a:r>
            <a:endParaRPr lang="en-US" sz="1200" noProof="1"/>
          </a:p>
        </p:txBody>
      </p:sp>
      <p:sp>
        <p:nvSpPr>
          <p:cNvPr id="21" name="line-bg"/>
          <p:cNvSpPr/>
          <p:nvPr/>
        </p:nvSpPr>
        <p:spPr>
          <a:xfrm>
            <a:off x="508000" y="4724400"/>
            <a:ext cx="11176000" cy="1371600"/>
          </a:xfrm>
          <a:prstGeom prst="roundRect">
            <a:avLst>
              <a:gd name="adj" fmla="val 7000"/>
            </a:avLst>
          </a:prstGeom>
          <a:solidFill>
            <a:srgbClr val="FBEAEA"/>
          </a:solidFill>
          <a:ln w="12700">
            <a:solidFill>
              <a:srgbClr val="C00000"/>
            </a:solidFill>
          </a:ln>
        </p:spPr>
      </p:sp>
      <p:sp>
        <p:nvSpPr>
          <p:cNvPr id="22" name="line-label"/>
          <p:cNvSpPr txBox="1"/>
          <p:nvPr/>
        </p:nvSpPr>
        <p:spPr>
          <a:xfrm>
            <a:off x="812800" y="4927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C00000"/>
                </a:solidFill>
                <a:latin typeface="MiSans" charset="-122"/>
                <a:ea typeface="MiSans" charset="-122"/>
              </a:rPr>
              <a:t>一条底线</a:t>
            </a:r>
            <a:endParaRPr lang="en-US" sz="1400" noProof="1"/>
          </a:p>
        </p:txBody>
      </p:sp>
      <p:sp>
        <p:nvSpPr>
          <p:cNvPr id="23" name="line-text"/>
          <p:cNvSpPr txBox="1"/>
          <p:nvPr/>
        </p:nvSpPr>
        <p:spPr>
          <a:xfrm>
            <a:off x="812800" y="5308600"/>
            <a:ext cx="10566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ctr">
              <a:lnSpc>
                <a:spcPct val="155000"/>
              </a:lnSpc>
            </a:pPr>
            <a:r>
              <a:rPr lang="en-US" sz="16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任何模拟结论都必须接受</a:t>
            </a:r>
            <a:r>
              <a:rPr lang="en-US" sz="16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真实课堂检验</a:t>
            </a:r>
            <a:r>
              <a:rPr lang="en-US" sz="16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；模型是我们对教师和学生主体的"当前工作假设"，而不是永久标签。</a:t>
            </a:r>
            <a:endParaRPr lang="en-US" sz="1600" noProof="1">
              <a:solidFill>
                <a:srgbClr val="1F2A3D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4" name="ft-band"/>
          <p:cNvSpPr/>
          <p:nvPr/>
        </p:nvSpPr>
        <p:spPr>
          <a:xfrm>
            <a:off x="0" y="6375400"/>
            <a:ext cx="12192000" cy="4826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25" name="ft-text"/>
          <p:cNvSpPr txBox="1"/>
          <p:nvPr/>
        </p:nvSpPr>
        <p:spPr>
          <a:xfrm>
            <a:off x="508000" y="6375400"/>
            <a:ext cx="1016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模拟不能替代真实课堂，更不能替代教师对具体学生与情境的专业判断</a:t>
            </a:r>
            <a:endParaRPr lang="en-US" sz="1250" noProof="1"/>
          </a:p>
        </p:txBody>
      </p:sp>
      <p:sp>
        <p:nvSpPr>
          <p:cNvPr id="26" name="ft-page"/>
          <p:cNvSpPr txBox="1"/>
          <p:nvPr/>
        </p:nvSpPr>
        <p:spPr>
          <a:xfrm>
            <a:off x="11176000" y="6375400"/>
            <a:ext cx="76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10 / 16</a:t>
            </a:r>
            <a:endParaRPr lang="en-US" sz="11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ag"/>
          <p:cNvSpPr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3" name="hd-tag-text"/>
          <p:cNvSpPr txBox="1"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核心思路</a:t>
            </a:r>
            <a:endParaRPr lang="en-US" sz="1200" noProof="1"/>
          </a:p>
        </p:txBody>
      </p:sp>
      <p:sp>
        <p:nvSpPr>
          <p:cNvPr id="4" name="hd-divider"/>
          <p:cNvSpPr/>
          <p:nvPr/>
        </p:nvSpPr>
        <p:spPr>
          <a:xfrm>
            <a:off x="1447800" y="304800"/>
            <a:ext cx="381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5" name="hd-title"/>
          <p:cNvSpPr txBox="1"/>
          <p:nvPr/>
        </p:nvSpPr>
        <p:spPr>
          <a:xfrm>
            <a:off x="1625600" y="228600"/>
            <a:ext cx="711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总体思路：先建模真实主体，再模拟与验证</a:t>
            </a:r>
            <a:endParaRPr lang="en-US" sz="2100" noProof="1"/>
          </a:p>
        </p:txBody>
      </p:sp>
      <p:sp>
        <p:nvSpPr>
          <p:cNvPr id="6" name="hd-logo-icon"/>
          <p:cNvSpPr/>
          <p:nvPr/>
        </p:nvSpPr>
        <p:spPr>
          <a:xfrm>
            <a:off x="11049000" y="342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88" y="0"/>
                </a:moveTo>
                <a:lnTo>
                  <a:pt x="128" y="0"/>
                </a:lnTo>
                <a:cubicBezTo>
                  <a:pt x="110" y="0"/>
                  <a:pt x="96" y="14"/>
                  <a:pt x="96" y="32"/>
                </a:cubicBezTo>
                <a:cubicBezTo>
                  <a:pt x="96" y="50"/>
                  <a:pt x="110" y="64"/>
                  <a:pt x="128" y="64"/>
                </a:cubicBezTo>
                <a:lnTo>
                  <a:pt x="128" y="216"/>
                </a:lnTo>
                <a:lnTo>
                  <a:pt x="8" y="426"/>
                </a:lnTo>
                <a:cubicBezTo>
                  <a:pt x="3" y="435"/>
                  <a:pt x="0" y="445"/>
                  <a:pt x="0" y="455"/>
                </a:cubicBezTo>
                <a:cubicBezTo>
                  <a:pt x="0" y="486"/>
                  <a:pt x="26" y="512"/>
                  <a:pt x="57" y="512"/>
                </a:cubicBezTo>
                <a:lnTo>
                  <a:pt x="391" y="512"/>
                </a:lnTo>
                <a:cubicBezTo>
                  <a:pt x="422" y="512"/>
                  <a:pt x="448" y="486"/>
                  <a:pt x="448" y="455"/>
                </a:cubicBezTo>
                <a:cubicBezTo>
                  <a:pt x="448" y="445"/>
                  <a:pt x="445" y="435"/>
                  <a:pt x="441" y="426"/>
                </a:cubicBezTo>
                <a:lnTo>
                  <a:pt x="320" y="216"/>
                </a:lnTo>
                <a:lnTo>
                  <a:pt x="320" y="64"/>
                </a:lnTo>
                <a:cubicBezTo>
                  <a:pt x="338" y="64"/>
                  <a:pt x="352" y="50"/>
                  <a:pt x="352" y="32"/>
                </a:cubicBezTo>
                <a:cubicBezTo>
                  <a:pt x="352" y="14"/>
                  <a:pt x="338" y="0"/>
                  <a:pt x="320" y="0"/>
                </a:cubicBezTo>
                <a:lnTo>
                  <a:pt x="288" y="0"/>
                </a:lnTo>
                <a:close/>
                <a:moveTo>
                  <a:pt x="192" y="216"/>
                </a:moveTo>
                <a:lnTo>
                  <a:pt x="192" y="64"/>
                </a:lnTo>
                <a:lnTo>
                  <a:pt x="256" y="64"/>
                </a:lnTo>
                <a:lnTo>
                  <a:pt x="256" y="216"/>
                </a:lnTo>
                <a:cubicBezTo>
                  <a:pt x="256" y="227"/>
                  <a:pt x="259" y="238"/>
                  <a:pt x="264" y="247"/>
                </a:cubicBezTo>
                <a:lnTo>
                  <a:pt x="306" y="320"/>
                </a:lnTo>
                <a:lnTo>
                  <a:pt x="142" y="320"/>
                </a:lnTo>
                <a:lnTo>
                  <a:pt x="184" y="247"/>
                </a:lnTo>
                <a:cubicBezTo>
                  <a:pt x="189" y="238"/>
                  <a:pt x="192" y="227"/>
                  <a:pt x="192" y="216"/>
                </a:cubicBezTo>
                <a:close/>
              </a:path>
            </a:pathLst>
          </a:custGeom>
          <a:solidFill>
            <a:srgbClr val="003378"/>
          </a:solidFill>
          <a:ln>
            <a:noFill/>
          </a:ln>
        </p:spPr>
      </p:sp>
      <p:sp>
        <p:nvSpPr>
          <p:cNvPr id="7" name="hd-logo-text"/>
          <p:cNvSpPr txBox="1"/>
          <p:nvPr/>
        </p:nvSpPr>
        <p:spPr>
          <a:xfrm>
            <a:off x="6858000" y="330200"/>
            <a:ext cx="4089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基于多智能体协同技术的模拟课堂教学研究</a:t>
            </a:r>
            <a:endParaRPr lang="en-US" sz="1000" noProof="1"/>
          </a:p>
        </p:txBody>
      </p:sp>
      <p:sp>
        <p:nvSpPr>
          <p:cNvPr id="8" name="hd-line"/>
          <p:cNvSpPr/>
          <p:nvPr/>
        </p:nvSpPr>
        <p:spPr>
          <a:xfrm>
            <a:off x="508000" y="762000"/>
            <a:ext cx="11176000" cy="12700"/>
          </a:xfrm>
          <a:prstGeom prst="rect">
            <a:avLst/>
          </a:prstGeom>
          <a:solidFill>
            <a:srgbClr val="D9E1EC"/>
          </a:solidFill>
          <a:ln>
            <a:noFill/>
          </a:ln>
        </p:spPr>
      </p:sp>
      <p:sp>
        <p:nvSpPr>
          <p:cNvPr id="9" name="idea-bg"/>
          <p:cNvSpPr/>
          <p:nvPr/>
        </p:nvSpPr>
        <p:spPr>
          <a:xfrm>
            <a:off x="508000" y="1016000"/>
            <a:ext cx="11176000" cy="914400"/>
          </a:xfrm>
          <a:prstGeom prst="roundRect">
            <a:avLst>
              <a:gd name="adj" fmla="val 9000"/>
            </a:avLst>
          </a:prstGeom>
          <a:solidFill>
            <a:srgbClr val="EAF1F8"/>
          </a:solidFill>
          <a:ln w="12700">
            <a:solidFill>
              <a:srgbClr val="003378"/>
            </a:solidFill>
          </a:ln>
        </p:spPr>
      </p:sp>
      <p:sp>
        <p:nvSpPr>
          <p:cNvPr id="10" name="idea-text"/>
          <p:cNvSpPr txBox="1"/>
          <p:nvPr/>
        </p:nvSpPr>
        <p:spPr>
          <a:xfrm>
            <a:off x="812800" y="1117600"/>
            <a:ext cx="10566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5000"/>
              </a:lnSpc>
            </a:pPr>
            <a:r>
              <a:rPr lang="en-US" sz="13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总体思路：</a:t>
            </a:r>
            <a:r>
              <a:rPr lang="en-US" sz="13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首先把真实教师和真实学生作为</a:t>
            </a:r>
            <a:r>
              <a:rPr lang="en-US" sz="13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可持续建模的主体</a:t>
            </a:r>
            <a:r>
              <a:rPr lang="en-US" sz="13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，在此基础上进行主体复现、双主体互动、课堂模拟和教学实验验证。</a:t>
            </a:r>
            <a:endParaRPr lang="en-US" sz="1300" noProof="1"/>
          </a:p>
        </p:txBody>
      </p:sp>
      <p:sp>
        <p:nvSpPr>
          <p:cNvPr id="11" name="lm-bg"/>
          <p:cNvSpPr/>
          <p:nvPr/>
        </p:nvSpPr>
        <p:spPr>
          <a:xfrm>
            <a:off x="508000" y="2133600"/>
            <a:ext cx="5435600" cy="39624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12700">
            <a:solidFill>
              <a:srgbClr val="D9E1EC"/>
            </a:solidFill>
          </a:ln>
        </p:spPr>
      </p:sp>
      <p:sp>
        <p:nvSpPr>
          <p:cNvPr id="12" name="lm-title"/>
          <p:cNvSpPr txBox="1"/>
          <p:nvPr/>
        </p:nvSpPr>
        <p:spPr>
          <a:xfrm>
            <a:off x="787400" y="23114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建模方法：持续建构路径</a:t>
            </a:r>
            <a:endParaRPr lang="en-US" sz="1400" noProof="1"/>
          </a:p>
        </p:txBody>
      </p:sp>
      <p:sp>
        <p:nvSpPr>
          <p:cNvPr id="13" name="lm-s1"/>
          <p:cNvSpPr/>
          <p:nvPr/>
        </p:nvSpPr>
        <p:spPr>
          <a:xfrm>
            <a:off x="762000" y="2768600"/>
            <a:ext cx="2362200" cy="457200"/>
          </a:xfrm>
          <a:prstGeom prst="roundRect">
            <a:avLst>
              <a:gd name="adj" fmla="val 12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14" name="lm-s1-t"/>
          <p:cNvSpPr txBox="1"/>
          <p:nvPr/>
        </p:nvSpPr>
        <p:spPr>
          <a:xfrm>
            <a:off x="762000" y="27686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01 首次表征</a:t>
            </a:r>
            <a:endParaRPr lang="en-US" sz="1200" noProof="1"/>
          </a:p>
        </p:txBody>
      </p:sp>
      <p:sp>
        <p:nvSpPr>
          <p:cNvPr id="15" name="lm-s2"/>
          <p:cNvSpPr/>
          <p:nvPr/>
        </p:nvSpPr>
        <p:spPr>
          <a:xfrm>
            <a:off x="3327400" y="2768600"/>
            <a:ext cx="2362200" cy="457200"/>
          </a:xfrm>
          <a:prstGeom prst="roundRect">
            <a:avLst>
              <a:gd name="adj" fmla="val 12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16" name="lm-s2-t"/>
          <p:cNvSpPr txBox="1"/>
          <p:nvPr/>
        </p:nvSpPr>
        <p:spPr>
          <a:xfrm>
            <a:off x="3327400" y="27686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02 自然记录</a:t>
            </a:r>
            <a:endParaRPr lang="en-US" sz="1200" noProof="1"/>
          </a:p>
        </p:txBody>
      </p:sp>
      <p:sp>
        <p:nvSpPr>
          <p:cNvPr id="17" name="lm-s3"/>
          <p:cNvSpPr/>
          <p:nvPr/>
        </p:nvSpPr>
        <p:spPr>
          <a:xfrm>
            <a:off x="762000" y="3352800"/>
            <a:ext cx="2362200" cy="457200"/>
          </a:xfrm>
          <a:prstGeom prst="roundRect">
            <a:avLst>
              <a:gd name="adj" fmla="val 12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18" name="lm-s3-t"/>
          <p:cNvSpPr txBox="1"/>
          <p:nvPr/>
        </p:nvSpPr>
        <p:spPr>
          <a:xfrm>
            <a:off x="762000" y="33528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03 证据识别</a:t>
            </a:r>
            <a:endParaRPr lang="en-US" sz="1200" noProof="1"/>
          </a:p>
        </p:txBody>
      </p:sp>
      <p:sp>
        <p:nvSpPr>
          <p:cNvPr id="19" name="lm-s4"/>
          <p:cNvSpPr/>
          <p:nvPr/>
        </p:nvSpPr>
        <p:spPr>
          <a:xfrm>
            <a:off x="3327400" y="3352800"/>
            <a:ext cx="2362200" cy="457200"/>
          </a:xfrm>
          <a:prstGeom prst="roundRect">
            <a:avLst>
              <a:gd name="adj" fmla="val 12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20" name="lm-s4-t"/>
          <p:cNvSpPr txBox="1"/>
          <p:nvPr/>
        </p:nvSpPr>
        <p:spPr>
          <a:xfrm>
            <a:off x="3327400" y="33528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04 缺口发现</a:t>
            </a:r>
            <a:endParaRPr lang="en-US" sz="1200" noProof="1"/>
          </a:p>
        </p:txBody>
      </p:sp>
      <p:sp>
        <p:nvSpPr>
          <p:cNvPr id="21" name="lm-s5"/>
          <p:cNvSpPr/>
          <p:nvPr/>
        </p:nvSpPr>
        <p:spPr>
          <a:xfrm>
            <a:off x="762000" y="3937000"/>
            <a:ext cx="2362200" cy="457200"/>
          </a:xfrm>
          <a:prstGeom prst="roundRect">
            <a:avLst>
              <a:gd name="adj" fmla="val 12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22" name="lm-s5-t"/>
          <p:cNvSpPr txBox="1"/>
          <p:nvPr/>
        </p:nvSpPr>
        <p:spPr>
          <a:xfrm>
            <a:off x="762000" y="39370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05 定向补充</a:t>
            </a:r>
            <a:endParaRPr lang="en-US" sz="1200" noProof="1"/>
          </a:p>
        </p:txBody>
      </p:sp>
      <p:sp>
        <p:nvSpPr>
          <p:cNvPr id="23" name="lm-s6"/>
          <p:cNvSpPr/>
          <p:nvPr/>
        </p:nvSpPr>
        <p:spPr>
          <a:xfrm>
            <a:off x="3327400" y="3937000"/>
            <a:ext cx="2362200" cy="457200"/>
          </a:xfrm>
          <a:prstGeom prst="roundRect">
            <a:avLst>
              <a:gd name="adj" fmla="val 12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24" name="lm-s6-t"/>
          <p:cNvSpPr txBox="1"/>
          <p:nvPr/>
        </p:nvSpPr>
        <p:spPr>
          <a:xfrm>
            <a:off x="3327400" y="39370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06 跨时间验证</a:t>
            </a:r>
            <a:endParaRPr lang="en-US" sz="1200" noProof="1"/>
          </a:p>
        </p:txBody>
      </p:sp>
      <p:sp>
        <p:nvSpPr>
          <p:cNvPr id="25" name="lm-note"/>
          <p:cNvSpPr txBox="1"/>
          <p:nvPr/>
        </p:nvSpPr>
        <p:spPr>
          <a:xfrm>
            <a:off x="787400" y="4597400"/>
            <a:ext cx="48768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通过结构化首次采集形成初始模型，再以日常教学与课堂中的</a:t>
            </a:r>
            <a:r>
              <a:rPr lang="en-US" sz="12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自然证据</a:t>
            </a: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不断更新，识别认识缺口并定向补充。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不以一次性测评作固定判断——模型随证据持续生长，</a:t>
            </a:r>
            <a:r>
              <a:rPr lang="en-US" sz="12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可解释、可修正</a:t>
            </a: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。</a:t>
            </a:r>
            <a:endParaRPr lang="en-US" sz="1200" noProof="1"/>
          </a:p>
        </p:txBody>
      </p:sp>
      <p:sp>
        <p:nvSpPr>
          <p:cNvPr id="26" name="rm-bg"/>
          <p:cNvSpPr/>
          <p:nvPr/>
        </p:nvSpPr>
        <p:spPr>
          <a:xfrm>
            <a:off x="6248400" y="2133600"/>
            <a:ext cx="5435600" cy="39624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12700">
            <a:solidFill>
              <a:srgbClr val="D9E1EC"/>
            </a:solidFill>
          </a:ln>
        </p:spPr>
      </p:sp>
      <p:sp>
        <p:nvSpPr>
          <p:cNvPr id="27" name="rm-title"/>
          <p:cNvSpPr txBox="1"/>
          <p:nvPr/>
        </p:nvSpPr>
        <p:spPr>
          <a:xfrm>
            <a:off x="6527800" y="23114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应用闭环：课前推演与证据校准</a:t>
            </a:r>
            <a:endParaRPr lang="en-US" sz="1400" noProof="1"/>
          </a:p>
        </p:txBody>
      </p:sp>
      <p:sp>
        <p:nvSpPr>
          <p:cNvPr id="28" name="rm-s1"/>
          <p:cNvSpPr/>
          <p:nvPr/>
        </p:nvSpPr>
        <p:spPr>
          <a:xfrm>
            <a:off x="6502400" y="2768600"/>
            <a:ext cx="2362200" cy="609600"/>
          </a:xfrm>
          <a:prstGeom prst="roundRect">
            <a:avLst>
              <a:gd name="adj" fmla="val 10000"/>
            </a:avLst>
          </a:prstGeom>
          <a:solidFill>
            <a:srgbClr val="D4E4F0"/>
          </a:solidFill>
          <a:ln w="12700">
            <a:solidFill>
              <a:srgbClr val="003378"/>
            </a:solidFill>
          </a:ln>
        </p:spPr>
      </p:sp>
      <p:sp>
        <p:nvSpPr>
          <p:cNvPr id="29" name="rm-s1-t"/>
          <p:cNvSpPr txBox="1"/>
          <p:nvPr/>
        </p:nvSpPr>
        <p:spPr>
          <a:xfrm>
            <a:off x="6502400" y="2768600"/>
            <a:ext cx="23622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课前推演</a:t>
            </a:r>
            <a:endParaRPr lang="en-US" sz="1250" noProof="1"/>
          </a:p>
        </p:txBody>
      </p:sp>
      <p:sp>
        <p:nvSpPr>
          <p:cNvPr id="30" name="rm-a1"/>
          <p:cNvSpPr/>
          <p:nvPr/>
        </p:nvSpPr>
        <p:spPr>
          <a:xfrm>
            <a:off x="8940800" y="2971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5A6472"/>
          </a:solidFill>
          <a:ln>
            <a:noFill/>
          </a:ln>
        </p:spPr>
      </p:sp>
      <p:sp>
        <p:nvSpPr>
          <p:cNvPr id="31" name="rm-s2"/>
          <p:cNvSpPr/>
          <p:nvPr/>
        </p:nvSpPr>
        <p:spPr>
          <a:xfrm>
            <a:off x="9220200" y="2768600"/>
            <a:ext cx="2362200" cy="609600"/>
          </a:xfrm>
          <a:prstGeom prst="roundRect">
            <a:avLst>
              <a:gd name="adj" fmla="val 10000"/>
            </a:avLst>
          </a:prstGeom>
          <a:solidFill>
            <a:srgbClr val="D4E4F0"/>
          </a:solidFill>
          <a:ln w="12700">
            <a:solidFill>
              <a:srgbClr val="003378"/>
            </a:solidFill>
          </a:ln>
        </p:spPr>
      </p:sp>
      <p:sp>
        <p:nvSpPr>
          <p:cNvPr id="32" name="rm-s2-t"/>
          <p:cNvSpPr txBox="1"/>
          <p:nvPr/>
        </p:nvSpPr>
        <p:spPr>
          <a:xfrm>
            <a:off x="9220200" y="2768600"/>
            <a:ext cx="23622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课堂实施</a:t>
            </a:r>
            <a:endParaRPr lang="en-US" sz="1250" noProof="1"/>
          </a:p>
        </p:txBody>
      </p:sp>
      <p:sp>
        <p:nvSpPr>
          <p:cNvPr id="33" name="rm-s3"/>
          <p:cNvSpPr/>
          <p:nvPr/>
        </p:nvSpPr>
        <p:spPr>
          <a:xfrm>
            <a:off x="6502400" y="3632200"/>
            <a:ext cx="2362200" cy="609600"/>
          </a:xfrm>
          <a:prstGeom prst="roundRect">
            <a:avLst>
              <a:gd name="adj" fmla="val 10000"/>
            </a:avLst>
          </a:prstGeom>
          <a:solidFill>
            <a:srgbClr val="D4E4F0"/>
          </a:solidFill>
          <a:ln w="12700">
            <a:solidFill>
              <a:srgbClr val="003378"/>
            </a:solidFill>
          </a:ln>
        </p:spPr>
      </p:sp>
      <p:sp>
        <p:nvSpPr>
          <p:cNvPr id="34" name="rm-s3-t"/>
          <p:cNvSpPr txBox="1"/>
          <p:nvPr/>
        </p:nvSpPr>
        <p:spPr>
          <a:xfrm>
            <a:off x="6502400" y="3632200"/>
            <a:ext cx="23622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模型更新</a:t>
            </a:r>
            <a:endParaRPr lang="en-US" sz="1250" noProof="1"/>
          </a:p>
        </p:txBody>
      </p:sp>
      <p:sp>
        <p:nvSpPr>
          <p:cNvPr id="35" name="rm-a2"/>
          <p:cNvSpPr/>
          <p:nvPr/>
        </p:nvSpPr>
        <p:spPr>
          <a:xfrm>
            <a:off x="8940800" y="3835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9" y="233"/>
                </a:moveTo>
                <a:cubicBezTo>
                  <a:pt x="-3" y="246"/>
                  <a:pt x="-3" y="266"/>
                  <a:pt x="9" y="279"/>
                </a:cubicBezTo>
                <a:lnTo>
                  <a:pt x="169" y="439"/>
                </a:lnTo>
                <a:cubicBezTo>
                  <a:pt x="182" y="451"/>
                  <a:pt x="202" y="451"/>
                  <a:pt x="215" y="439"/>
                </a:cubicBezTo>
                <a:cubicBezTo>
                  <a:pt x="227" y="426"/>
                  <a:pt x="227" y="406"/>
                  <a:pt x="215" y="393"/>
                </a:cubicBezTo>
                <a:lnTo>
                  <a:pt x="77" y="256"/>
                </a:lnTo>
                <a:lnTo>
                  <a:pt x="215" y="119"/>
                </a:lnTo>
                <a:cubicBezTo>
                  <a:pt x="227" y="106"/>
                  <a:pt x="227" y="86"/>
                  <a:pt x="215" y="73"/>
                </a:cubicBezTo>
                <a:cubicBezTo>
                  <a:pt x="202" y="61"/>
                  <a:pt x="182" y="61"/>
                  <a:pt x="169" y="73"/>
                </a:cubicBezTo>
                <a:lnTo>
                  <a:pt x="9" y="233"/>
                </a:lnTo>
                <a:close/>
              </a:path>
            </a:pathLst>
          </a:custGeom>
          <a:solidFill>
            <a:srgbClr val="5A6472"/>
          </a:solidFill>
          <a:ln>
            <a:noFill/>
          </a:ln>
        </p:spPr>
      </p:sp>
      <p:sp>
        <p:nvSpPr>
          <p:cNvPr id="36" name="rm-s4"/>
          <p:cNvSpPr/>
          <p:nvPr/>
        </p:nvSpPr>
        <p:spPr>
          <a:xfrm>
            <a:off x="9220200" y="3632200"/>
            <a:ext cx="2362200" cy="609600"/>
          </a:xfrm>
          <a:prstGeom prst="roundRect">
            <a:avLst>
              <a:gd name="adj" fmla="val 10000"/>
            </a:avLst>
          </a:prstGeom>
          <a:solidFill>
            <a:srgbClr val="D4E4F0"/>
          </a:solidFill>
          <a:ln w="12700">
            <a:solidFill>
              <a:srgbClr val="003378"/>
            </a:solidFill>
          </a:ln>
        </p:spPr>
      </p:sp>
      <p:sp>
        <p:nvSpPr>
          <p:cNvPr id="37" name="rm-s4-t"/>
          <p:cNvSpPr txBox="1"/>
          <p:nvPr/>
        </p:nvSpPr>
        <p:spPr>
          <a:xfrm>
            <a:off x="9220200" y="3632200"/>
            <a:ext cx="23622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证据对照</a:t>
            </a:r>
            <a:endParaRPr lang="en-US" sz="1250" noProof="1"/>
          </a:p>
        </p:txBody>
      </p:sp>
      <p:sp>
        <p:nvSpPr>
          <p:cNvPr id="38" name="rm-note"/>
          <p:cNvSpPr txBox="1"/>
          <p:nvPr/>
        </p:nvSpPr>
        <p:spPr>
          <a:xfrm>
            <a:off x="6527800" y="4597400"/>
            <a:ext cx="48768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教学设计先在虚拟课堂中</a:t>
            </a:r>
            <a:r>
              <a:rPr lang="en-US" sz="12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运行一遍</a:t>
            </a: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，暴露问题、改进设计，再进入真实课堂。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真实课堂证据反过来</a:t>
            </a:r>
            <a:r>
              <a:rPr lang="en-US" sz="12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校准模型</a:t>
            </a: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，使模拟逐步逼近真实，形成"课前推演—课堂实施—证据对照—模型更新"的完整闭环。</a:t>
            </a:r>
            <a:endParaRPr lang="en-US" sz="1200" noProof="1"/>
          </a:p>
        </p:txBody>
      </p:sp>
      <p:sp>
        <p:nvSpPr>
          <p:cNvPr id="39" name="ft-band"/>
          <p:cNvSpPr/>
          <p:nvPr/>
        </p:nvSpPr>
        <p:spPr>
          <a:xfrm>
            <a:off x="0" y="6375400"/>
            <a:ext cx="12192000" cy="4826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40" name="ft-text"/>
          <p:cNvSpPr txBox="1"/>
          <p:nvPr/>
        </p:nvSpPr>
        <p:spPr>
          <a:xfrm>
            <a:off x="508000" y="6375400"/>
            <a:ext cx="1016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模拟是教学假设，真实课堂证据必须持续校准模型</a:t>
            </a:r>
            <a:endParaRPr lang="en-US" sz="1250" noProof="1"/>
          </a:p>
        </p:txBody>
      </p:sp>
      <p:sp>
        <p:nvSpPr>
          <p:cNvPr id="41" name="ft-page"/>
          <p:cNvSpPr txBox="1"/>
          <p:nvPr/>
        </p:nvSpPr>
        <p:spPr>
          <a:xfrm>
            <a:off x="11176000" y="6375400"/>
            <a:ext cx="76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11 / 16</a:t>
            </a:r>
            <a:endParaRPr lang="en-US" sz="11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-num"/>
          <p:cNvSpPr txBox="1"/>
          <p:nvPr/>
        </p:nvSpPr>
        <p:spPr>
          <a:xfrm>
            <a:off x="711200" y="1524000"/>
            <a:ext cx="4064000" cy="165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0" b="1" noProof="1">
                <a:solidFill>
                  <a:srgbClr val="FFFFFF">
                    <a:alpha val="14118"/>
                  </a:srgbClr>
                </a:solidFill>
                <a:latin typeface="MiSans" charset="-122"/>
                <a:ea typeface="MiSans" charset="-122"/>
              </a:rPr>
              <a:t>04</a:t>
            </a:r>
            <a:endParaRPr lang="en-US" sz="11000" noProof="1"/>
          </a:p>
        </p:txBody>
      </p:sp>
      <p:sp>
        <p:nvSpPr>
          <p:cNvPr id="3" name="ch-kicker"/>
          <p:cNvSpPr txBox="1"/>
          <p:nvPr/>
        </p:nvSpPr>
        <p:spPr>
          <a:xfrm>
            <a:off x="1270000" y="31750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kern="0" spc="400" noProof="1">
                <a:solidFill>
                  <a:srgbClr val="91D6F4"/>
                </a:solidFill>
                <a:latin typeface="MiSans" charset="-122"/>
                <a:ea typeface="MiSans" charset="-122"/>
              </a:rPr>
              <a:t>PART 04</a:t>
            </a:r>
            <a:endParaRPr lang="en-US" sz="1300" noProof="1"/>
          </a:p>
        </p:txBody>
      </p:sp>
      <p:sp>
        <p:nvSpPr>
          <p:cNvPr id="4" name="ch-title"/>
          <p:cNvSpPr txBox="1"/>
          <p:nvPr/>
        </p:nvSpPr>
        <p:spPr>
          <a:xfrm>
            <a:off x="1270000" y="3505200"/>
            <a:ext cx="8128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技术路线与阶段安排</a:t>
            </a:r>
            <a:endParaRPr lang="en-US" sz="3400" noProof="1"/>
          </a:p>
        </p:txBody>
      </p:sp>
      <p:sp>
        <p:nvSpPr>
          <p:cNvPr id="5" name="ch-subtitle"/>
          <p:cNvSpPr txBox="1"/>
          <p:nvPr/>
        </p:nvSpPr>
        <p:spPr>
          <a:xfrm>
            <a:off x="1270000" y="4191000"/>
            <a:ext cx="8636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91D6F4"/>
                </a:solidFill>
                <a:latin typeface="MiSans" charset="-122"/>
                <a:ea typeface="MiSans" charset="-122"/>
              </a:rPr>
              <a:t>五阶段递进推进，第一阶段边界与当前进展</a:t>
            </a:r>
            <a:endParaRPr lang="en-US" sz="1600" noProof="1"/>
          </a:p>
        </p:txBody>
      </p:sp>
      <p:sp>
        <p:nvSpPr>
          <p:cNvPr id="6" name="ch-line"/>
          <p:cNvSpPr/>
          <p:nvPr/>
        </p:nvSpPr>
        <p:spPr>
          <a:xfrm>
            <a:off x="1270000" y="4800600"/>
            <a:ext cx="1524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h-items"/>
          <p:cNvSpPr txBox="1"/>
          <p:nvPr/>
        </p:nvSpPr>
        <p:spPr>
          <a:xfrm>
            <a:off x="1270000" y="5080000"/>
            <a:ext cx="9398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90000"/>
              </a:lnSpc>
            </a:pPr>
            <a:r>
              <a:rPr lang="en-US" sz="1350" noProof="1">
                <a:solidFill>
                  <a:srgbClr val="FFFFFF">
                    <a:alpha val="85098"/>
                  </a:srgbClr>
                </a:solidFill>
                <a:latin typeface="MiSans" charset="-122"/>
                <a:ea typeface="MiSans" charset="-122"/>
              </a:rPr>
              <a:t>· 主体表征 → 主体复现 → 双主体互动 → 模拟课堂 → 实验验证</a:t>
            </a:r>
            <a:endParaRPr lang="en-US" sz="1350" noProof="1"/>
          </a:p>
          <a:p>
            <a:pPr>
              <a:lnSpc>
                <a:spcPct val="190000"/>
              </a:lnSpc>
            </a:pPr>
            <a:r>
              <a:rPr lang="en-US" sz="1350" noProof="1">
                <a:solidFill>
                  <a:srgbClr val="FFFFFF">
                    <a:alpha val="85098"/>
                  </a:srgbClr>
                </a:solidFill>
                <a:latin typeface="MiSans" charset="-122"/>
                <a:ea typeface="MiSans" charset="-122"/>
              </a:rPr>
              <a:t>· 第一阶段：聚焦一年级科学、8—15分钟核心教学片段</a:t>
            </a:r>
            <a:endParaRPr lang="en-US" sz="1350" noProof="1"/>
          </a:p>
          <a:p>
            <a:pPr>
              <a:lnSpc>
                <a:spcPct val="190000"/>
              </a:lnSpc>
            </a:pPr>
            <a:r>
              <a:rPr lang="en-US" sz="1350" noProof="1">
                <a:solidFill>
                  <a:srgbClr val="FFFFFF">
                    <a:alpha val="85098"/>
                  </a:srgbClr>
                </a:solidFill>
                <a:latin typeface="MiSans" charset="-122"/>
                <a:ea typeface="MiSans" charset="-122"/>
              </a:rPr>
              <a:t>· 当前进展：教师侧核心链路已验证，学生侧实地验证即将展开</a:t>
            </a:r>
            <a:endParaRPr lang="en-US" sz="1350" noProof="1"/>
          </a:p>
        </p:txBody>
      </p:sp>
      <p:sp>
        <p:nvSpPr>
          <p:cNvPr id="8" name="ch-page"/>
          <p:cNvSpPr txBox="1"/>
          <p:nvPr/>
        </p:nvSpPr>
        <p:spPr>
          <a:xfrm>
            <a:off x="10922000" y="62484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FFFFFF">
                    <a:alpha val="60000"/>
                  </a:srgbClr>
                </a:solidFill>
                <a:latin typeface="MiSans" charset="-122"/>
                <a:ea typeface="MiSans" charset="-122"/>
              </a:rPr>
              <a:t>12 / 16</a:t>
            </a:r>
            <a:endParaRPr lang="en-US" sz="11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ag"/>
          <p:cNvSpPr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3" name="hd-tag-text"/>
          <p:cNvSpPr txBox="1"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技术路线</a:t>
            </a:r>
            <a:endParaRPr lang="en-US" sz="1200" noProof="1"/>
          </a:p>
        </p:txBody>
      </p:sp>
      <p:sp>
        <p:nvSpPr>
          <p:cNvPr id="4" name="hd-divider"/>
          <p:cNvSpPr/>
          <p:nvPr/>
        </p:nvSpPr>
        <p:spPr>
          <a:xfrm>
            <a:off x="1447800" y="304800"/>
            <a:ext cx="381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5" name="hd-title"/>
          <p:cNvSpPr txBox="1"/>
          <p:nvPr/>
        </p:nvSpPr>
        <p:spPr>
          <a:xfrm>
            <a:off x="1625600" y="228600"/>
            <a:ext cx="711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五阶段递进的技术路线</a:t>
            </a:r>
            <a:endParaRPr lang="en-US" sz="2100" noProof="1"/>
          </a:p>
        </p:txBody>
      </p:sp>
      <p:sp>
        <p:nvSpPr>
          <p:cNvPr id="6" name="hd-logo-icon"/>
          <p:cNvSpPr/>
          <p:nvPr/>
        </p:nvSpPr>
        <p:spPr>
          <a:xfrm>
            <a:off x="11049000" y="342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88" y="0"/>
                </a:moveTo>
                <a:lnTo>
                  <a:pt x="128" y="0"/>
                </a:lnTo>
                <a:cubicBezTo>
                  <a:pt x="110" y="0"/>
                  <a:pt x="96" y="14"/>
                  <a:pt x="96" y="32"/>
                </a:cubicBezTo>
                <a:cubicBezTo>
                  <a:pt x="96" y="50"/>
                  <a:pt x="110" y="64"/>
                  <a:pt x="128" y="64"/>
                </a:cubicBezTo>
                <a:lnTo>
                  <a:pt x="128" y="216"/>
                </a:lnTo>
                <a:lnTo>
                  <a:pt x="8" y="426"/>
                </a:lnTo>
                <a:cubicBezTo>
                  <a:pt x="3" y="435"/>
                  <a:pt x="0" y="445"/>
                  <a:pt x="0" y="455"/>
                </a:cubicBezTo>
                <a:cubicBezTo>
                  <a:pt x="0" y="486"/>
                  <a:pt x="26" y="512"/>
                  <a:pt x="57" y="512"/>
                </a:cubicBezTo>
                <a:lnTo>
                  <a:pt x="391" y="512"/>
                </a:lnTo>
                <a:cubicBezTo>
                  <a:pt x="422" y="512"/>
                  <a:pt x="448" y="486"/>
                  <a:pt x="448" y="455"/>
                </a:cubicBezTo>
                <a:cubicBezTo>
                  <a:pt x="448" y="445"/>
                  <a:pt x="445" y="435"/>
                  <a:pt x="441" y="426"/>
                </a:cubicBezTo>
                <a:lnTo>
                  <a:pt x="320" y="216"/>
                </a:lnTo>
                <a:lnTo>
                  <a:pt x="320" y="64"/>
                </a:lnTo>
                <a:cubicBezTo>
                  <a:pt x="338" y="64"/>
                  <a:pt x="352" y="50"/>
                  <a:pt x="352" y="32"/>
                </a:cubicBezTo>
                <a:cubicBezTo>
                  <a:pt x="352" y="14"/>
                  <a:pt x="338" y="0"/>
                  <a:pt x="320" y="0"/>
                </a:cubicBezTo>
                <a:lnTo>
                  <a:pt x="288" y="0"/>
                </a:lnTo>
                <a:close/>
                <a:moveTo>
                  <a:pt x="192" y="216"/>
                </a:moveTo>
                <a:lnTo>
                  <a:pt x="192" y="64"/>
                </a:lnTo>
                <a:lnTo>
                  <a:pt x="256" y="64"/>
                </a:lnTo>
                <a:lnTo>
                  <a:pt x="256" y="216"/>
                </a:lnTo>
                <a:cubicBezTo>
                  <a:pt x="256" y="227"/>
                  <a:pt x="259" y="238"/>
                  <a:pt x="264" y="247"/>
                </a:cubicBezTo>
                <a:lnTo>
                  <a:pt x="306" y="320"/>
                </a:lnTo>
                <a:lnTo>
                  <a:pt x="142" y="320"/>
                </a:lnTo>
                <a:lnTo>
                  <a:pt x="184" y="247"/>
                </a:lnTo>
                <a:cubicBezTo>
                  <a:pt x="189" y="238"/>
                  <a:pt x="192" y="227"/>
                  <a:pt x="192" y="216"/>
                </a:cubicBezTo>
                <a:close/>
              </a:path>
            </a:pathLst>
          </a:custGeom>
          <a:solidFill>
            <a:srgbClr val="003378"/>
          </a:solidFill>
          <a:ln>
            <a:noFill/>
          </a:ln>
        </p:spPr>
      </p:sp>
      <p:sp>
        <p:nvSpPr>
          <p:cNvPr id="7" name="hd-logo-text"/>
          <p:cNvSpPr txBox="1"/>
          <p:nvPr/>
        </p:nvSpPr>
        <p:spPr>
          <a:xfrm>
            <a:off x="6858000" y="330200"/>
            <a:ext cx="4089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基于多智能体协同技术的模拟课堂教学研究</a:t>
            </a:r>
            <a:endParaRPr lang="en-US" sz="1000" noProof="1"/>
          </a:p>
        </p:txBody>
      </p:sp>
      <p:sp>
        <p:nvSpPr>
          <p:cNvPr id="8" name="hd-line"/>
          <p:cNvSpPr/>
          <p:nvPr/>
        </p:nvSpPr>
        <p:spPr>
          <a:xfrm>
            <a:off x="508000" y="762000"/>
            <a:ext cx="11176000" cy="12700"/>
          </a:xfrm>
          <a:prstGeom prst="rect">
            <a:avLst/>
          </a:prstGeom>
          <a:solidFill>
            <a:srgbClr val="D9E1EC"/>
          </a:solidFill>
          <a:ln>
            <a:noFill/>
          </a:ln>
        </p:spPr>
      </p:sp>
      <p:sp>
        <p:nvSpPr>
          <p:cNvPr id="9" name="intro"/>
          <p:cNvSpPr txBox="1"/>
          <p:nvPr/>
        </p:nvSpPr>
        <p:spPr>
          <a:xfrm>
            <a:off x="508000" y="939800"/>
            <a:ext cx="1117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5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项目按照五个阶段递进推进，每一阶段的产出都接受下一阶段与真实证据的检验。</a:t>
            </a:r>
            <a:endParaRPr lang="en-US" sz="1250" noProof="1"/>
          </a:p>
        </p:txBody>
      </p:sp>
      <p:sp>
        <p:nvSpPr>
          <p:cNvPr id="10" name="s1-bg"/>
          <p:cNvSpPr/>
          <p:nvPr/>
        </p:nvSpPr>
        <p:spPr>
          <a:xfrm>
            <a:off x="508000" y="1854200"/>
            <a:ext cx="2032000" cy="2307590"/>
          </a:xfrm>
          <a:prstGeom prst="roundRect">
            <a:avLst>
              <a:gd name="adj" fmla="val 6000"/>
            </a:avLst>
          </a:prstGeom>
          <a:solidFill>
            <a:srgbClr val="D4E4F0"/>
          </a:solidFill>
          <a:ln>
            <a:noFill/>
          </a:ln>
        </p:spPr>
      </p:sp>
      <p:sp>
        <p:nvSpPr>
          <p:cNvPr id="11" name="s1-head"/>
          <p:cNvSpPr/>
          <p:nvPr/>
        </p:nvSpPr>
        <p:spPr>
          <a:xfrm>
            <a:off x="508000" y="1854200"/>
            <a:ext cx="2032000" cy="787400"/>
          </a:xfrm>
          <a:prstGeom prst="roundRect">
            <a:avLst>
              <a:gd name="adj" fmla="val 6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12" name="s1-head-t"/>
          <p:cNvSpPr txBox="1"/>
          <p:nvPr/>
        </p:nvSpPr>
        <p:spPr>
          <a:xfrm>
            <a:off x="508000" y="1854200"/>
            <a:ext cx="2032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阶段一</a:t>
            </a:r>
            <a:endParaRPr lang="en-US" sz="1300" noProof="1"/>
          </a:p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主体表征</a:t>
            </a:r>
            <a:endParaRPr lang="en-US" sz="1300" noProof="1"/>
          </a:p>
        </p:txBody>
      </p:sp>
      <p:sp>
        <p:nvSpPr>
          <p:cNvPr id="13" name="s1-body"/>
          <p:cNvSpPr txBox="1"/>
          <p:nvPr/>
        </p:nvSpPr>
        <p:spPr>
          <a:xfrm>
            <a:off x="685800" y="2794000"/>
            <a:ext cx="16764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面向真实教师和学生开展结构化首次采集，形成主体模型初始版本，明确变量框架、证据规则与边界条件。</a:t>
            </a:r>
            <a:endParaRPr lang="en-US" sz="1100" noProof="1"/>
          </a:p>
        </p:txBody>
      </p:sp>
      <p:sp>
        <p:nvSpPr>
          <p:cNvPr id="14" name="sa1"/>
          <p:cNvSpPr/>
          <p:nvPr/>
        </p:nvSpPr>
        <p:spPr>
          <a:xfrm>
            <a:off x="2590800" y="330200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5A6472"/>
          </a:solidFill>
          <a:ln>
            <a:noFill/>
          </a:ln>
        </p:spPr>
      </p:sp>
      <p:sp>
        <p:nvSpPr>
          <p:cNvPr id="15" name="s2-bg"/>
          <p:cNvSpPr/>
          <p:nvPr/>
        </p:nvSpPr>
        <p:spPr>
          <a:xfrm>
            <a:off x="2794000" y="1854200"/>
            <a:ext cx="2032000" cy="2307590"/>
          </a:xfrm>
          <a:prstGeom prst="roundRect">
            <a:avLst>
              <a:gd name="adj" fmla="val 6000"/>
            </a:avLst>
          </a:prstGeom>
          <a:solidFill>
            <a:srgbClr val="D4E4F0"/>
          </a:solidFill>
          <a:ln>
            <a:noFill/>
          </a:ln>
        </p:spPr>
      </p:sp>
      <p:sp>
        <p:nvSpPr>
          <p:cNvPr id="16" name="s2-head"/>
          <p:cNvSpPr/>
          <p:nvPr/>
        </p:nvSpPr>
        <p:spPr>
          <a:xfrm>
            <a:off x="2794000" y="1854200"/>
            <a:ext cx="2032000" cy="787400"/>
          </a:xfrm>
          <a:prstGeom prst="roundRect">
            <a:avLst>
              <a:gd name="adj" fmla="val 6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17" name="s2-head-t"/>
          <p:cNvSpPr txBox="1"/>
          <p:nvPr/>
        </p:nvSpPr>
        <p:spPr>
          <a:xfrm>
            <a:off x="2794000" y="1854200"/>
            <a:ext cx="2032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阶段二</a:t>
            </a:r>
            <a:endParaRPr lang="en-US" sz="1300" noProof="1"/>
          </a:p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主体复现</a:t>
            </a:r>
            <a:endParaRPr lang="en-US" sz="1300" noProof="1"/>
          </a:p>
        </p:txBody>
      </p:sp>
      <p:sp>
        <p:nvSpPr>
          <p:cNvPr id="18" name="s2-body"/>
          <p:cNvSpPr txBox="1"/>
          <p:nvPr/>
        </p:nvSpPr>
        <p:spPr>
          <a:xfrm>
            <a:off x="2971800" y="2794000"/>
            <a:ext cx="16764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基于主体模型构建教师智能体与学生智能体，使虚拟主体在典型情境中的反应与真实主体保持可解释的一致性。</a:t>
            </a:r>
            <a:endParaRPr lang="en-US" sz="1100" noProof="1"/>
          </a:p>
        </p:txBody>
      </p:sp>
      <p:sp>
        <p:nvSpPr>
          <p:cNvPr id="19" name="sa2"/>
          <p:cNvSpPr/>
          <p:nvPr/>
        </p:nvSpPr>
        <p:spPr>
          <a:xfrm>
            <a:off x="4876800" y="330200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5A6472"/>
          </a:solidFill>
          <a:ln>
            <a:noFill/>
          </a:ln>
        </p:spPr>
      </p:sp>
      <p:sp>
        <p:nvSpPr>
          <p:cNvPr id="20" name="s3-bg"/>
          <p:cNvSpPr/>
          <p:nvPr/>
        </p:nvSpPr>
        <p:spPr>
          <a:xfrm>
            <a:off x="5080000" y="1854200"/>
            <a:ext cx="2032000" cy="2307590"/>
          </a:xfrm>
          <a:prstGeom prst="roundRect">
            <a:avLst>
              <a:gd name="adj" fmla="val 6000"/>
            </a:avLst>
          </a:prstGeom>
          <a:solidFill>
            <a:srgbClr val="D4E4F0"/>
          </a:solidFill>
          <a:ln>
            <a:noFill/>
          </a:ln>
        </p:spPr>
      </p:sp>
      <p:sp>
        <p:nvSpPr>
          <p:cNvPr id="21" name="s3-head"/>
          <p:cNvSpPr/>
          <p:nvPr/>
        </p:nvSpPr>
        <p:spPr>
          <a:xfrm>
            <a:off x="5080000" y="1854200"/>
            <a:ext cx="2032000" cy="787400"/>
          </a:xfrm>
          <a:prstGeom prst="roundRect">
            <a:avLst>
              <a:gd name="adj" fmla="val 6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22" name="s3-head-t"/>
          <p:cNvSpPr txBox="1"/>
          <p:nvPr/>
        </p:nvSpPr>
        <p:spPr>
          <a:xfrm>
            <a:off x="5080000" y="1854200"/>
            <a:ext cx="2032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阶段三</a:t>
            </a:r>
            <a:endParaRPr lang="en-US" sz="1300" noProof="1"/>
          </a:p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双主体互动</a:t>
            </a:r>
            <a:endParaRPr lang="en-US" sz="1300" noProof="1"/>
          </a:p>
        </p:txBody>
      </p:sp>
      <p:sp>
        <p:nvSpPr>
          <p:cNvPr id="23" name="s3-body"/>
          <p:cNvSpPr txBox="1"/>
          <p:nvPr/>
        </p:nvSpPr>
        <p:spPr>
          <a:xfrm>
            <a:off x="5257800" y="2794000"/>
            <a:ext cx="16764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教师行为改变学生状态，学生状态反过来推动教师重新作出教学决策，形成课堂互动的基本机制。</a:t>
            </a:r>
            <a:endParaRPr lang="en-US" sz="1100" noProof="1"/>
          </a:p>
        </p:txBody>
      </p:sp>
      <p:sp>
        <p:nvSpPr>
          <p:cNvPr id="24" name="sa3"/>
          <p:cNvSpPr/>
          <p:nvPr/>
        </p:nvSpPr>
        <p:spPr>
          <a:xfrm>
            <a:off x="7162800" y="330200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5A6472"/>
          </a:solidFill>
          <a:ln>
            <a:noFill/>
          </a:ln>
        </p:spPr>
      </p:sp>
      <p:sp>
        <p:nvSpPr>
          <p:cNvPr id="25" name="s4-bg"/>
          <p:cNvSpPr/>
          <p:nvPr/>
        </p:nvSpPr>
        <p:spPr>
          <a:xfrm>
            <a:off x="7366000" y="1854200"/>
            <a:ext cx="2032000" cy="2307590"/>
          </a:xfrm>
          <a:prstGeom prst="roundRect">
            <a:avLst>
              <a:gd name="adj" fmla="val 6000"/>
            </a:avLst>
          </a:prstGeom>
          <a:solidFill>
            <a:srgbClr val="D4E4F0"/>
          </a:solidFill>
          <a:ln>
            <a:noFill/>
          </a:ln>
        </p:spPr>
      </p:sp>
      <p:sp>
        <p:nvSpPr>
          <p:cNvPr id="26" name="s4-head"/>
          <p:cNvSpPr/>
          <p:nvPr/>
        </p:nvSpPr>
        <p:spPr>
          <a:xfrm>
            <a:off x="7366000" y="1854200"/>
            <a:ext cx="2032000" cy="787400"/>
          </a:xfrm>
          <a:prstGeom prst="roundRect">
            <a:avLst>
              <a:gd name="adj" fmla="val 6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27" name="s4-head-t"/>
          <p:cNvSpPr txBox="1"/>
          <p:nvPr/>
        </p:nvSpPr>
        <p:spPr>
          <a:xfrm>
            <a:off x="7366000" y="1854200"/>
            <a:ext cx="2032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阶段四</a:t>
            </a:r>
            <a:endParaRPr lang="en-US" sz="1300" noProof="1"/>
          </a:p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模拟课堂</a:t>
            </a:r>
            <a:endParaRPr lang="en-US" sz="1300" noProof="1"/>
          </a:p>
        </p:txBody>
      </p:sp>
      <p:sp>
        <p:nvSpPr>
          <p:cNvPr id="28" name="s4-body"/>
          <p:cNvSpPr txBox="1"/>
          <p:nvPr/>
        </p:nvSpPr>
        <p:spPr>
          <a:xfrm>
            <a:off x="7543800" y="2794000"/>
            <a:ext cx="16764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整合虚拟探究环境、课堂事件与课堂状态管理，构建完整模拟课堂，支持真实情境下的试讲与磨课。</a:t>
            </a:r>
            <a:endParaRPr lang="en-US" sz="1100" noProof="1"/>
          </a:p>
        </p:txBody>
      </p:sp>
      <p:sp>
        <p:nvSpPr>
          <p:cNvPr id="29" name="sa4"/>
          <p:cNvSpPr/>
          <p:nvPr/>
        </p:nvSpPr>
        <p:spPr>
          <a:xfrm>
            <a:off x="9448800" y="330200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5A6472"/>
          </a:solidFill>
          <a:ln>
            <a:noFill/>
          </a:ln>
        </p:spPr>
      </p:sp>
      <p:sp>
        <p:nvSpPr>
          <p:cNvPr id="30" name="s5-bg"/>
          <p:cNvSpPr/>
          <p:nvPr/>
        </p:nvSpPr>
        <p:spPr>
          <a:xfrm>
            <a:off x="9652000" y="1854200"/>
            <a:ext cx="2032000" cy="2307590"/>
          </a:xfrm>
          <a:prstGeom prst="roundRect">
            <a:avLst>
              <a:gd name="adj" fmla="val 6000"/>
            </a:avLst>
          </a:prstGeom>
          <a:solidFill>
            <a:srgbClr val="FBE5CF"/>
          </a:solidFill>
          <a:ln>
            <a:noFill/>
          </a:ln>
        </p:spPr>
      </p:sp>
      <p:sp>
        <p:nvSpPr>
          <p:cNvPr id="31" name="s5-head"/>
          <p:cNvSpPr/>
          <p:nvPr/>
        </p:nvSpPr>
        <p:spPr>
          <a:xfrm>
            <a:off x="9652000" y="1854200"/>
            <a:ext cx="2032000" cy="7874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32" name="s5-head-t"/>
          <p:cNvSpPr txBox="1"/>
          <p:nvPr/>
        </p:nvSpPr>
        <p:spPr>
          <a:xfrm>
            <a:off x="9652000" y="1854200"/>
            <a:ext cx="2032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阶段五</a:t>
            </a:r>
            <a:endParaRPr lang="en-US" sz="1300" noProof="1"/>
          </a:p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实验验证</a:t>
            </a:r>
            <a:endParaRPr lang="en-US" sz="1300" noProof="1"/>
          </a:p>
        </p:txBody>
      </p:sp>
      <p:sp>
        <p:nvSpPr>
          <p:cNvPr id="33" name="s5-body"/>
          <p:cNvSpPr txBox="1"/>
          <p:nvPr/>
        </p:nvSpPr>
        <p:spPr>
          <a:xfrm>
            <a:off x="9829800" y="2794000"/>
            <a:ext cx="16764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将模拟结果与真实课堂系统对照，评估模拟真实性、训练有效性与设计改进价值，持续修正模型与机制。</a:t>
            </a:r>
            <a:endParaRPr lang="en-US" sz="1100" noProof="1"/>
          </a:p>
        </p:txBody>
      </p:sp>
      <p:sp>
        <p:nvSpPr>
          <p:cNvPr id="34" name="note-bg"/>
          <p:cNvSpPr/>
          <p:nvPr/>
        </p:nvSpPr>
        <p:spPr>
          <a:xfrm>
            <a:off x="508000" y="4826000"/>
            <a:ext cx="11176000" cy="1270000"/>
          </a:xfrm>
          <a:prstGeom prst="roundRect">
            <a:avLst>
              <a:gd name="adj" fmla="val 7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35" name="note-label"/>
          <p:cNvSpPr txBox="1"/>
          <p:nvPr/>
        </p:nvSpPr>
        <p:spPr>
          <a:xfrm>
            <a:off x="812800" y="50038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递进逻辑</a:t>
            </a:r>
            <a:endParaRPr lang="en-US" sz="1300" noProof="1"/>
          </a:p>
        </p:txBody>
      </p:sp>
      <p:sp>
        <p:nvSpPr>
          <p:cNvPr id="36" name="note-text"/>
          <p:cNvSpPr txBox="1"/>
          <p:nvPr/>
        </p:nvSpPr>
        <p:spPr>
          <a:xfrm>
            <a:off x="812800" y="5334000"/>
            <a:ext cx="10566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前一阶段为后一阶段提供可检验的基础：</a:t>
            </a:r>
            <a:r>
              <a:rPr lang="en-US" sz="125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没有真实的主体表征，复现就缺少依据；没有可解释的复现，互动与模拟就难以接受验证。</a:t>
            </a:r>
            <a:r>
              <a:rPr lang="en-US" sz="125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越接近真实课堂，验证要求越高。</a:t>
            </a:r>
            <a:endParaRPr lang="en-US" sz="1250" noProof="1"/>
          </a:p>
        </p:txBody>
      </p:sp>
      <p:sp>
        <p:nvSpPr>
          <p:cNvPr id="37" name="ft-band"/>
          <p:cNvSpPr/>
          <p:nvPr/>
        </p:nvSpPr>
        <p:spPr>
          <a:xfrm>
            <a:off x="0" y="6375400"/>
            <a:ext cx="12192000" cy="4826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38" name="ft-text"/>
          <p:cNvSpPr txBox="1"/>
          <p:nvPr/>
        </p:nvSpPr>
        <p:spPr>
          <a:xfrm>
            <a:off x="508000" y="6375400"/>
            <a:ext cx="1016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从主体建模到实验验证，逐级递进、逐层验证</a:t>
            </a:r>
            <a:endParaRPr lang="en-US" sz="1250" noProof="1"/>
          </a:p>
        </p:txBody>
      </p:sp>
      <p:sp>
        <p:nvSpPr>
          <p:cNvPr id="39" name="ft-page"/>
          <p:cNvSpPr txBox="1"/>
          <p:nvPr/>
        </p:nvSpPr>
        <p:spPr>
          <a:xfrm>
            <a:off x="11176000" y="6375400"/>
            <a:ext cx="76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13 / 16</a:t>
            </a:r>
            <a:endParaRPr lang="en-US" sz="11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ag"/>
          <p:cNvSpPr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3" name="hd-tag-text"/>
          <p:cNvSpPr txBox="1"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技术路线</a:t>
            </a:r>
            <a:endParaRPr lang="en-US" sz="1200" noProof="1"/>
          </a:p>
        </p:txBody>
      </p:sp>
      <p:sp>
        <p:nvSpPr>
          <p:cNvPr id="4" name="hd-divider"/>
          <p:cNvSpPr/>
          <p:nvPr/>
        </p:nvSpPr>
        <p:spPr>
          <a:xfrm>
            <a:off x="1447800" y="304800"/>
            <a:ext cx="381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5" name="hd-title"/>
          <p:cNvSpPr txBox="1"/>
          <p:nvPr/>
        </p:nvSpPr>
        <p:spPr>
          <a:xfrm>
            <a:off x="1625600" y="228600"/>
            <a:ext cx="711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第一阶段：边界聚焦与当前进展</a:t>
            </a:r>
            <a:endParaRPr lang="en-US" sz="2100" noProof="1"/>
          </a:p>
        </p:txBody>
      </p:sp>
      <p:sp>
        <p:nvSpPr>
          <p:cNvPr id="6" name="hd-logo-icon"/>
          <p:cNvSpPr/>
          <p:nvPr/>
        </p:nvSpPr>
        <p:spPr>
          <a:xfrm>
            <a:off x="11049000" y="342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88" y="0"/>
                </a:moveTo>
                <a:lnTo>
                  <a:pt x="128" y="0"/>
                </a:lnTo>
                <a:cubicBezTo>
                  <a:pt x="110" y="0"/>
                  <a:pt x="96" y="14"/>
                  <a:pt x="96" y="32"/>
                </a:cubicBezTo>
                <a:cubicBezTo>
                  <a:pt x="96" y="50"/>
                  <a:pt x="110" y="64"/>
                  <a:pt x="128" y="64"/>
                </a:cubicBezTo>
                <a:lnTo>
                  <a:pt x="128" y="216"/>
                </a:lnTo>
                <a:lnTo>
                  <a:pt x="8" y="426"/>
                </a:lnTo>
                <a:cubicBezTo>
                  <a:pt x="3" y="435"/>
                  <a:pt x="0" y="445"/>
                  <a:pt x="0" y="455"/>
                </a:cubicBezTo>
                <a:cubicBezTo>
                  <a:pt x="0" y="486"/>
                  <a:pt x="26" y="512"/>
                  <a:pt x="57" y="512"/>
                </a:cubicBezTo>
                <a:lnTo>
                  <a:pt x="391" y="512"/>
                </a:lnTo>
                <a:cubicBezTo>
                  <a:pt x="422" y="512"/>
                  <a:pt x="448" y="486"/>
                  <a:pt x="448" y="455"/>
                </a:cubicBezTo>
                <a:cubicBezTo>
                  <a:pt x="448" y="445"/>
                  <a:pt x="445" y="435"/>
                  <a:pt x="441" y="426"/>
                </a:cubicBezTo>
                <a:lnTo>
                  <a:pt x="320" y="216"/>
                </a:lnTo>
                <a:lnTo>
                  <a:pt x="320" y="64"/>
                </a:lnTo>
                <a:cubicBezTo>
                  <a:pt x="338" y="64"/>
                  <a:pt x="352" y="50"/>
                  <a:pt x="352" y="32"/>
                </a:cubicBezTo>
                <a:cubicBezTo>
                  <a:pt x="352" y="14"/>
                  <a:pt x="338" y="0"/>
                  <a:pt x="320" y="0"/>
                </a:cubicBezTo>
                <a:lnTo>
                  <a:pt x="288" y="0"/>
                </a:lnTo>
                <a:close/>
                <a:moveTo>
                  <a:pt x="192" y="216"/>
                </a:moveTo>
                <a:lnTo>
                  <a:pt x="192" y="64"/>
                </a:lnTo>
                <a:lnTo>
                  <a:pt x="256" y="64"/>
                </a:lnTo>
                <a:lnTo>
                  <a:pt x="256" y="216"/>
                </a:lnTo>
                <a:cubicBezTo>
                  <a:pt x="256" y="227"/>
                  <a:pt x="259" y="238"/>
                  <a:pt x="264" y="247"/>
                </a:cubicBezTo>
                <a:lnTo>
                  <a:pt x="306" y="320"/>
                </a:lnTo>
                <a:lnTo>
                  <a:pt x="142" y="320"/>
                </a:lnTo>
                <a:lnTo>
                  <a:pt x="184" y="247"/>
                </a:lnTo>
                <a:cubicBezTo>
                  <a:pt x="189" y="238"/>
                  <a:pt x="192" y="227"/>
                  <a:pt x="192" y="216"/>
                </a:cubicBezTo>
                <a:close/>
              </a:path>
            </a:pathLst>
          </a:custGeom>
          <a:solidFill>
            <a:srgbClr val="003378"/>
          </a:solidFill>
          <a:ln>
            <a:noFill/>
          </a:ln>
        </p:spPr>
      </p:sp>
      <p:sp>
        <p:nvSpPr>
          <p:cNvPr id="7" name="hd-logo-text"/>
          <p:cNvSpPr txBox="1"/>
          <p:nvPr/>
        </p:nvSpPr>
        <p:spPr>
          <a:xfrm>
            <a:off x="6858000" y="330200"/>
            <a:ext cx="4089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基于多智能体协同技术的模拟课堂教学研究</a:t>
            </a:r>
            <a:endParaRPr lang="en-US" sz="1000" noProof="1"/>
          </a:p>
        </p:txBody>
      </p:sp>
      <p:sp>
        <p:nvSpPr>
          <p:cNvPr id="8" name="hd-line"/>
          <p:cNvSpPr/>
          <p:nvPr/>
        </p:nvSpPr>
        <p:spPr>
          <a:xfrm>
            <a:off x="508000" y="762000"/>
            <a:ext cx="11176000" cy="12700"/>
          </a:xfrm>
          <a:prstGeom prst="rect">
            <a:avLst/>
          </a:prstGeom>
          <a:solidFill>
            <a:srgbClr val="D9E1EC"/>
          </a:solidFill>
          <a:ln>
            <a:noFill/>
          </a:ln>
        </p:spPr>
      </p:sp>
      <p:sp>
        <p:nvSpPr>
          <p:cNvPr id="9" name="bd-bg"/>
          <p:cNvSpPr/>
          <p:nvPr/>
        </p:nvSpPr>
        <p:spPr>
          <a:xfrm>
            <a:off x="508000" y="1041400"/>
            <a:ext cx="5435600" cy="3578225"/>
          </a:xfrm>
          <a:prstGeom prst="roundRect">
            <a:avLst>
              <a:gd name="adj" fmla="val 5000"/>
            </a:avLst>
          </a:prstGeom>
          <a:solidFill>
            <a:srgbClr val="D4E4F0"/>
          </a:solidFill>
          <a:ln>
            <a:noFill/>
          </a:ln>
        </p:spPr>
      </p:sp>
      <p:sp>
        <p:nvSpPr>
          <p:cNvPr id="10" name="bd-title"/>
          <p:cNvSpPr txBox="1"/>
          <p:nvPr/>
        </p:nvSpPr>
        <p:spPr>
          <a:xfrm>
            <a:off x="787400" y="12192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主动控制边界：第一阶段聚焦</a:t>
            </a:r>
            <a:endParaRPr lang="en-US" sz="1400" noProof="1"/>
          </a:p>
        </p:txBody>
      </p:sp>
      <p:sp>
        <p:nvSpPr>
          <p:cNvPr id="11" name="bd-body"/>
          <p:cNvSpPr txBox="1"/>
          <p:nvPr/>
        </p:nvSpPr>
        <p:spPr>
          <a:xfrm>
            <a:off x="787400" y="1811655"/>
            <a:ext cx="4876800" cy="28365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· </a:t>
            </a:r>
            <a:r>
              <a:rPr lang="en-US" sz="125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小学一年级科学</a:t>
            </a:r>
            <a:r>
              <a:rPr lang="en-US" sz="125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学科</a:t>
            </a:r>
            <a:endParaRPr lang="en-US" sz="1250" noProof="1"/>
          </a:p>
          <a:p>
            <a:pPr>
              <a:lnSpc>
                <a:spcPct val="160000"/>
              </a:lnSpc>
              <a:spcBef>
                <a:spcPts val="900"/>
              </a:spcBef>
            </a:pPr>
            <a:r>
              <a:rPr lang="en-US" sz="125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· </a:t>
            </a:r>
            <a:r>
              <a:rPr lang="en-US" sz="125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8—15分钟</a:t>
            </a:r>
            <a:r>
              <a:rPr lang="en-US" sz="125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核心教学片段</a:t>
            </a:r>
            <a:endParaRPr lang="en-US" sz="1250" noProof="1"/>
          </a:p>
          <a:p>
            <a:pPr>
              <a:lnSpc>
                <a:spcPct val="160000"/>
              </a:lnSpc>
              <a:spcBef>
                <a:spcPts val="900"/>
              </a:spcBef>
            </a:pPr>
            <a:r>
              <a:rPr lang="en-US" sz="125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· </a:t>
            </a:r>
            <a:r>
              <a:rPr lang="en-US" sz="125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观察、比较与简单探究</a:t>
            </a:r>
            <a:r>
              <a:rPr lang="en-US" sz="125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类课堂</a:t>
            </a:r>
            <a:endParaRPr lang="en-US" sz="1250" noProof="1"/>
          </a:p>
          <a:p>
            <a:pPr>
              <a:lnSpc>
                <a:spcPct val="160000"/>
              </a:lnSpc>
              <a:spcBef>
                <a:spcPts val="900"/>
              </a:spcBef>
            </a:pPr>
            <a:r>
              <a:rPr lang="en-US" sz="125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· 虚拟教师与学生</a:t>
            </a:r>
            <a:r>
              <a:rPr lang="en-US" sz="125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实时互动</a:t>
            </a:r>
            <a:endParaRPr lang="en-US" sz="1250" noProof="1"/>
          </a:p>
          <a:p>
            <a:pPr>
              <a:lnSpc>
                <a:spcPct val="160000"/>
              </a:lnSpc>
              <a:spcBef>
                <a:spcPts val="900"/>
              </a:spcBef>
            </a:pPr>
            <a:r>
              <a:rPr lang="en-US" sz="125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· 基于全过程数据的</a:t>
            </a:r>
            <a:r>
              <a:rPr lang="en-US" sz="125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教学过程诊断</a:t>
            </a:r>
            <a:endParaRPr lang="en-US" sz="1250" noProof="1"/>
          </a:p>
          <a:p>
            <a:pPr>
              <a:lnSpc>
                <a:spcPct val="160000"/>
              </a:lnSpc>
              <a:spcBef>
                <a:spcPts val="1200"/>
              </a:spcBef>
            </a:pPr>
            <a:endParaRPr lang="en-US" sz="1250" noProof="1"/>
          </a:p>
        </p:txBody>
      </p:sp>
      <p:sp>
        <p:nvSpPr>
          <p:cNvPr id="12" name="vf-bg"/>
          <p:cNvSpPr/>
          <p:nvPr/>
        </p:nvSpPr>
        <p:spPr>
          <a:xfrm>
            <a:off x="6248400" y="1041400"/>
            <a:ext cx="5435600" cy="1778000"/>
          </a:xfrm>
          <a:prstGeom prst="roundRect">
            <a:avLst>
              <a:gd name="adj" fmla="val 6000"/>
            </a:avLst>
          </a:prstGeom>
          <a:solidFill>
            <a:srgbClr val="DEEBD9"/>
          </a:solidFill>
          <a:ln>
            <a:noFill/>
          </a:ln>
        </p:spPr>
      </p:sp>
      <p:sp>
        <p:nvSpPr>
          <p:cNvPr id="13" name="vf-title"/>
          <p:cNvSpPr txBox="1"/>
          <p:nvPr/>
        </p:nvSpPr>
        <p:spPr>
          <a:xfrm>
            <a:off x="6527800" y="11938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优先验证三件事</a:t>
            </a:r>
            <a:endParaRPr lang="en-US" sz="1400" noProof="1"/>
          </a:p>
        </p:txBody>
      </p:sp>
      <p:sp>
        <p:nvSpPr>
          <p:cNvPr id="14" name="vf-body"/>
          <p:cNvSpPr txBox="1"/>
          <p:nvPr/>
        </p:nvSpPr>
        <p:spPr>
          <a:xfrm>
            <a:off x="6527800" y="1574800"/>
            <a:ext cx="48768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· 虚拟学生的反应</a:t>
            </a:r>
            <a:r>
              <a:rPr lang="en-US" sz="12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是否真实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· 课堂事件</a:t>
            </a:r>
            <a:r>
              <a:rPr lang="en-US" sz="12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是否具有教学价值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· 系统能否真正帮助教师</a:t>
            </a:r>
            <a:r>
              <a:rPr lang="en-US" sz="12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改进教学</a:t>
            </a:r>
            <a:endParaRPr lang="en-US" sz="1200" noProof="1"/>
          </a:p>
        </p:txBody>
      </p:sp>
      <p:sp>
        <p:nvSpPr>
          <p:cNvPr id="15" name="pg-bg"/>
          <p:cNvSpPr/>
          <p:nvPr/>
        </p:nvSpPr>
        <p:spPr>
          <a:xfrm>
            <a:off x="6248400" y="3022600"/>
            <a:ext cx="5435600" cy="1593850"/>
          </a:xfrm>
          <a:prstGeom prst="roundRect">
            <a:avLst>
              <a:gd name="adj" fmla="val 6000"/>
            </a:avLst>
          </a:prstGeom>
          <a:solidFill>
            <a:srgbClr val="FBE5CF"/>
          </a:solidFill>
          <a:ln>
            <a:noFill/>
          </a:ln>
        </p:spPr>
      </p:sp>
      <p:sp>
        <p:nvSpPr>
          <p:cNvPr id="16" name="pg-title"/>
          <p:cNvSpPr txBox="1"/>
          <p:nvPr/>
        </p:nvSpPr>
        <p:spPr>
          <a:xfrm>
            <a:off x="6527800" y="31750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当前进展</a:t>
            </a:r>
            <a:endParaRPr lang="en-US" sz="1400" noProof="1"/>
          </a:p>
        </p:txBody>
      </p:sp>
      <p:sp>
        <p:nvSpPr>
          <p:cNvPr id="17" name="pg-body"/>
          <p:cNvSpPr txBox="1"/>
          <p:nvPr/>
        </p:nvSpPr>
        <p:spPr>
          <a:xfrm>
            <a:off x="6527800" y="3556000"/>
            <a:ext cx="48768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· 教师侧</a:t>
            </a:r>
            <a:r>
              <a:rPr lang="zh-CN" alt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、学生侧</a:t>
            </a: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：</a:t>
            </a:r>
            <a:endParaRPr lang="en-US" sz="1200" noProof="1">
              <a:solidFill>
                <a:srgbClr val="1F2A3D"/>
              </a:solidFill>
              <a:latin typeface="MiSans" charset="-122"/>
              <a:ea typeface="MiSans" charset="-122"/>
            </a:endParaRPr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   已完成从首次采集到初始模型形成的</a:t>
            </a:r>
            <a:r>
              <a:rPr lang="en-US" sz="12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核心链路验证</a:t>
            </a:r>
            <a:endParaRPr lang="en-US" sz="1200" noProof="1"/>
          </a:p>
        </p:txBody>
      </p:sp>
      <p:sp>
        <p:nvSpPr>
          <p:cNvPr id="18" name="std-bg"/>
          <p:cNvSpPr/>
          <p:nvPr/>
        </p:nvSpPr>
        <p:spPr>
          <a:xfrm>
            <a:off x="508000" y="5054600"/>
            <a:ext cx="11176000" cy="10668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003378"/>
            </a:solidFill>
          </a:ln>
        </p:spPr>
      </p:sp>
      <p:sp>
        <p:nvSpPr>
          <p:cNvPr id="19" name="std-label"/>
          <p:cNvSpPr txBox="1"/>
          <p:nvPr/>
        </p:nvSpPr>
        <p:spPr>
          <a:xfrm>
            <a:off x="812800" y="51816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C00000"/>
                </a:solidFill>
                <a:latin typeface="MiSans" charset="-122"/>
                <a:ea typeface="MiSans" charset="-122"/>
              </a:rPr>
              <a:t>第一阶段的成功标准</a:t>
            </a:r>
            <a:endParaRPr lang="en-US" sz="1300" noProof="1"/>
          </a:p>
        </p:txBody>
      </p:sp>
      <p:sp>
        <p:nvSpPr>
          <p:cNvPr id="20" name="std-text"/>
          <p:cNvSpPr txBox="1"/>
          <p:nvPr/>
        </p:nvSpPr>
        <p:spPr>
          <a:xfrm>
            <a:off x="812800" y="5486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ctr">
              <a:lnSpc>
                <a:spcPct val="150000"/>
              </a:lnSpc>
            </a:pPr>
            <a:r>
              <a:rPr lang="en-US" sz="125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像学生、像课堂、能训练教师、能改进教学设计</a:t>
            </a:r>
            <a:endParaRPr lang="en-US" sz="1250" noProof="1"/>
          </a:p>
        </p:txBody>
      </p:sp>
      <p:sp>
        <p:nvSpPr>
          <p:cNvPr id="21" name="ft-band"/>
          <p:cNvSpPr/>
          <p:nvPr/>
        </p:nvSpPr>
        <p:spPr>
          <a:xfrm>
            <a:off x="0" y="6375400"/>
            <a:ext cx="12192000" cy="4826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22" name="ft-text"/>
          <p:cNvSpPr txBox="1"/>
          <p:nvPr/>
        </p:nvSpPr>
        <p:spPr>
          <a:xfrm>
            <a:off x="508000" y="6375400"/>
            <a:ext cx="1016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先把最小场景做真实，再逐步扩展学科、年级与课堂形态</a:t>
            </a:r>
            <a:endParaRPr lang="en-US" sz="1250" noProof="1"/>
          </a:p>
        </p:txBody>
      </p:sp>
      <p:sp>
        <p:nvSpPr>
          <p:cNvPr id="23" name="ft-page"/>
          <p:cNvSpPr txBox="1"/>
          <p:nvPr/>
        </p:nvSpPr>
        <p:spPr>
          <a:xfrm>
            <a:off x="11176000" y="6375400"/>
            <a:ext cx="76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14 / 16</a:t>
            </a:r>
            <a:endParaRPr lang="en-US" sz="11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ag"/>
          <p:cNvSpPr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3" name="hd-tag-text"/>
          <p:cNvSpPr txBox="1"/>
          <p:nvPr/>
        </p:nvSpPr>
        <p:spPr>
          <a:xfrm>
            <a:off x="508000" y="304800"/>
            <a:ext cx="838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结语</a:t>
            </a:r>
            <a:endParaRPr lang="en-US" sz="1200" noProof="1"/>
          </a:p>
        </p:txBody>
      </p:sp>
      <p:sp>
        <p:nvSpPr>
          <p:cNvPr id="4" name="hd-divider"/>
          <p:cNvSpPr/>
          <p:nvPr/>
        </p:nvSpPr>
        <p:spPr>
          <a:xfrm>
            <a:off x="1447800" y="304800"/>
            <a:ext cx="38100" cy="3302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5" name="hd-title"/>
          <p:cNvSpPr txBox="1"/>
          <p:nvPr/>
        </p:nvSpPr>
        <p:spPr>
          <a:xfrm>
            <a:off x="1625600" y="228600"/>
            <a:ext cx="711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结语</a:t>
            </a:r>
            <a:endParaRPr lang="en-US" sz="2100" noProof="1"/>
          </a:p>
        </p:txBody>
      </p:sp>
      <p:sp>
        <p:nvSpPr>
          <p:cNvPr id="6" name="hd-logo-icon"/>
          <p:cNvSpPr/>
          <p:nvPr/>
        </p:nvSpPr>
        <p:spPr>
          <a:xfrm>
            <a:off x="11049000" y="342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88" y="0"/>
                </a:moveTo>
                <a:lnTo>
                  <a:pt x="128" y="0"/>
                </a:lnTo>
                <a:cubicBezTo>
                  <a:pt x="110" y="0"/>
                  <a:pt x="96" y="14"/>
                  <a:pt x="96" y="32"/>
                </a:cubicBezTo>
                <a:cubicBezTo>
                  <a:pt x="96" y="50"/>
                  <a:pt x="110" y="64"/>
                  <a:pt x="128" y="64"/>
                </a:cubicBezTo>
                <a:lnTo>
                  <a:pt x="128" y="216"/>
                </a:lnTo>
                <a:lnTo>
                  <a:pt x="8" y="426"/>
                </a:lnTo>
                <a:cubicBezTo>
                  <a:pt x="3" y="435"/>
                  <a:pt x="0" y="445"/>
                  <a:pt x="0" y="455"/>
                </a:cubicBezTo>
                <a:cubicBezTo>
                  <a:pt x="0" y="486"/>
                  <a:pt x="26" y="512"/>
                  <a:pt x="57" y="512"/>
                </a:cubicBezTo>
                <a:lnTo>
                  <a:pt x="391" y="512"/>
                </a:lnTo>
                <a:cubicBezTo>
                  <a:pt x="422" y="512"/>
                  <a:pt x="448" y="486"/>
                  <a:pt x="448" y="455"/>
                </a:cubicBezTo>
                <a:cubicBezTo>
                  <a:pt x="448" y="445"/>
                  <a:pt x="445" y="435"/>
                  <a:pt x="441" y="426"/>
                </a:cubicBezTo>
                <a:lnTo>
                  <a:pt x="320" y="216"/>
                </a:lnTo>
                <a:lnTo>
                  <a:pt x="320" y="64"/>
                </a:lnTo>
                <a:cubicBezTo>
                  <a:pt x="338" y="64"/>
                  <a:pt x="352" y="50"/>
                  <a:pt x="352" y="32"/>
                </a:cubicBezTo>
                <a:cubicBezTo>
                  <a:pt x="352" y="14"/>
                  <a:pt x="338" y="0"/>
                  <a:pt x="320" y="0"/>
                </a:cubicBezTo>
                <a:lnTo>
                  <a:pt x="288" y="0"/>
                </a:lnTo>
                <a:close/>
                <a:moveTo>
                  <a:pt x="192" y="216"/>
                </a:moveTo>
                <a:lnTo>
                  <a:pt x="192" y="64"/>
                </a:lnTo>
                <a:lnTo>
                  <a:pt x="256" y="64"/>
                </a:lnTo>
                <a:lnTo>
                  <a:pt x="256" y="216"/>
                </a:lnTo>
                <a:cubicBezTo>
                  <a:pt x="256" y="227"/>
                  <a:pt x="259" y="238"/>
                  <a:pt x="264" y="247"/>
                </a:cubicBezTo>
                <a:lnTo>
                  <a:pt x="306" y="320"/>
                </a:lnTo>
                <a:lnTo>
                  <a:pt x="142" y="320"/>
                </a:lnTo>
                <a:lnTo>
                  <a:pt x="184" y="247"/>
                </a:lnTo>
                <a:cubicBezTo>
                  <a:pt x="189" y="238"/>
                  <a:pt x="192" y="227"/>
                  <a:pt x="192" y="216"/>
                </a:cubicBezTo>
                <a:close/>
              </a:path>
            </a:pathLst>
          </a:custGeom>
          <a:solidFill>
            <a:srgbClr val="003378"/>
          </a:solidFill>
          <a:ln>
            <a:noFill/>
          </a:ln>
        </p:spPr>
      </p:sp>
      <p:sp>
        <p:nvSpPr>
          <p:cNvPr id="7" name="hd-logo-text"/>
          <p:cNvSpPr txBox="1"/>
          <p:nvPr/>
        </p:nvSpPr>
        <p:spPr>
          <a:xfrm>
            <a:off x="6858000" y="330200"/>
            <a:ext cx="4089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A6472"/>
                </a:solidFill>
                <a:latin typeface="MiSans" charset="-122"/>
                <a:ea typeface="MiSans" charset="-122"/>
              </a:rPr>
              <a:t>基于多智能体协同技术的模拟课堂教学研究</a:t>
            </a:r>
            <a:endParaRPr lang="en-US" sz="1000" noProof="1"/>
          </a:p>
        </p:txBody>
      </p:sp>
      <p:sp>
        <p:nvSpPr>
          <p:cNvPr id="8" name="hd-line"/>
          <p:cNvSpPr/>
          <p:nvPr/>
        </p:nvSpPr>
        <p:spPr>
          <a:xfrm>
            <a:off x="508000" y="762000"/>
            <a:ext cx="11176000" cy="12700"/>
          </a:xfrm>
          <a:prstGeom prst="rect">
            <a:avLst/>
          </a:prstGeom>
          <a:solidFill>
            <a:srgbClr val="D9E1EC"/>
          </a:solidFill>
          <a:ln>
            <a:noFill/>
          </a:ln>
        </p:spPr>
      </p:sp>
      <p:sp>
        <p:nvSpPr>
          <p:cNvPr id="9" name="quote-bg"/>
          <p:cNvSpPr/>
          <p:nvPr/>
        </p:nvSpPr>
        <p:spPr>
          <a:xfrm>
            <a:off x="508000" y="1066800"/>
            <a:ext cx="11176000" cy="1905000"/>
          </a:xfrm>
          <a:prstGeom prst="roundRect">
            <a:avLst>
              <a:gd name="adj" fmla="val 5000"/>
            </a:avLst>
          </a:prstGeom>
          <a:solidFill>
            <a:srgbClr val="003378"/>
          </a:solidFill>
          <a:ln>
            <a:noFill/>
          </a:ln>
        </p:spPr>
      </p:sp>
      <p:sp>
        <p:nvSpPr>
          <p:cNvPr id="10" name="quote-mark"/>
          <p:cNvSpPr txBox="1"/>
          <p:nvPr/>
        </p:nvSpPr>
        <p:spPr>
          <a:xfrm>
            <a:off x="889000" y="11684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400" b="1" noProof="1">
                <a:solidFill>
                  <a:srgbClr val="FFFFFF">
                    <a:alpha val="25098"/>
                  </a:srgbClr>
                </a:solidFill>
                <a:latin typeface="MiSans" charset="-122"/>
                <a:ea typeface="MiSans" charset="-122"/>
              </a:rPr>
              <a:t>“</a:t>
            </a:r>
            <a:endParaRPr lang="en-US" sz="4400" noProof="1"/>
          </a:p>
        </p:txBody>
      </p:sp>
      <p:sp>
        <p:nvSpPr>
          <p:cNvPr id="11" name="quote-text"/>
          <p:cNvSpPr txBox="1"/>
          <p:nvPr/>
        </p:nvSpPr>
        <p:spPr>
          <a:xfrm>
            <a:off x="1143000" y="1320800"/>
            <a:ext cx="9906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5000"/>
              </a:lnSpc>
            </a:pPr>
            <a:r>
              <a:rPr lang="en-US" sz="17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在真实课堂发生之前，让教学设计先在虚拟学生中"跑一遍"；</a:t>
            </a:r>
            <a:endParaRPr lang="en-US" sz="1700" noProof="1"/>
          </a:p>
          <a:p>
            <a:pPr algn="l">
              <a:lnSpc>
                <a:spcPct val="165000"/>
              </a:lnSpc>
            </a:pPr>
            <a:r>
              <a:rPr lang="en-US" sz="17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在真实课堂发生之后，让真实证据持续校准我们的模型。</a:t>
            </a:r>
            <a:endParaRPr lang="en-US" sz="1700" noProof="1"/>
          </a:p>
        </p:txBody>
      </p:sp>
      <p:sp>
        <p:nvSpPr>
          <p:cNvPr id="12" name="v1-bg"/>
          <p:cNvSpPr/>
          <p:nvPr/>
        </p:nvSpPr>
        <p:spPr>
          <a:xfrm>
            <a:off x="508000" y="3225800"/>
            <a:ext cx="5435600" cy="1651000"/>
          </a:xfrm>
          <a:prstGeom prst="roundRect">
            <a:avLst>
              <a:gd name="adj" fmla="val 6000"/>
            </a:avLst>
          </a:prstGeom>
          <a:solidFill>
            <a:srgbClr val="D4E4F0"/>
          </a:solidFill>
          <a:ln>
            <a:noFill/>
          </a:ln>
        </p:spPr>
      </p:sp>
      <p:sp>
        <p:nvSpPr>
          <p:cNvPr id="13" name="v1-title"/>
          <p:cNvSpPr txBox="1"/>
          <p:nvPr/>
        </p:nvSpPr>
        <p:spPr>
          <a:xfrm>
            <a:off x="787400" y="34036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对教师专业发展</a:t>
            </a:r>
            <a:endParaRPr lang="en-US" sz="1400" noProof="1"/>
          </a:p>
        </p:txBody>
      </p:sp>
      <p:sp>
        <p:nvSpPr>
          <p:cNvPr id="14" name="v1-body"/>
          <p:cNvSpPr txBox="1"/>
          <p:nvPr/>
        </p:nvSpPr>
        <p:spPr>
          <a:xfrm>
            <a:off x="787400" y="3784600"/>
            <a:ext cx="4876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提供一个可重复、低风险、具有真实学生差异反应的教学训练环境，支持试讲、磨课与教学设计验证。</a:t>
            </a:r>
            <a:endParaRPr lang="en-US" sz="1200" noProof="1"/>
          </a:p>
        </p:txBody>
      </p:sp>
      <p:sp>
        <p:nvSpPr>
          <p:cNvPr id="15" name="v2-bg"/>
          <p:cNvSpPr/>
          <p:nvPr/>
        </p:nvSpPr>
        <p:spPr>
          <a:xfrm>
            <a:off x="6248400" y="3225800"/>
            <a:ext cx="5435600" cy="1651000"/>
          </a:xfrm>
          <a:prstGeom prst="roundRect">
            <a:avLst>
              <a:gd name="adj" fmla="val 6000"/>
            </a:avLst>
          </a:prstGeom>
          <a:solidFill>
            <a:srgbClr val="DEEBD9"/>
          </a:solidFill>
          <a:ln>
            <a:noFill/>
          </a:ln>
        </p:spPr>
      </p:sp>
      <p:sp>
        <p:nvSpPr>
          <p:cNvPr id="16" name="v2-title"/>
          <p:cNvSpPr txBox="1"/>
          <p:nvPr/>
        </p:nvSpPr>
        <p:spPr>
          <a:xfrm>
            <a:off x="6527800" y="34036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03378"/>
                </a:solidFill>
                <a:latin typeface="MiSans" charset="-122"/>
                <a:ea typeface="MiSans" charset="-122"/>
              </a:rPr>
              <a:t>对课堂教学研究</a:t>
            </a:r>
            <a:endParaRPr lang="en-US" sz="1400" noProof="1"/>
          </a:p>
        </p:txBody>
      </p:sp>
      <p:sp>
        <p:nvSpPr>
          <p:cNvPr id="17" name="v2-body"/>
          <p:cNvSpPr txBox="1"/>
          <p:nvPr/>
        </p:nvSpPr>
        <p:spPr>
          <a:xfrm>
            <a:off x="6527800" y="3784600"/>
            <a:ext cx="4876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提供一种可验证的教学实验方法与研究基础设施，使课堂模拟结果能够接受真实课堂证据的检验。</a:t>
            </a:r>
            <a:endParaRPr lang="en-US" sz="1200" noProof="1"/>
          </a:p>
        </p:txBody>
      </p:sp>
      <p:sp>
        <p:nvSpPr>
          <p:cNvPr id="18" name="ask-bg"/>
          <p:cNvSpPr/>
          <p:nvPr/>
        </p:nvSpPr>
        <p:spPr>
          <a:xfrm>
            <a:off x="508000" y="5130800"/>
            <a:ext cx="11176000" cy="965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003378"/>
            </a:solidFill>
          </a:ln>
        </p:spPr>
      </p:sp>
      <p:sp>
        <p:nvSpPr>
          <p:cNvPr id="19" name="ask-text"/>
          <p:cNvSpPr txBox="1"/>
          <p:nvPr/>
        </p:nvSpPr>
        <p:spPr>
          <a:xfrm>
            <a:off x="812800" y="5130800"/>
            <a:ext cx="10566400" cy="96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45000"/>
              </a:lnSpc>
            </a:pPr>
            <a:r>
              <a:rPr lang="en-US" sz="13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诚挚希望各位专家对项目的</a:t>
            </a:r>
            <a:r>
              <a:rPr lang="en-US" sz="1300" b="1" noProof="1">
                <a:solidFill>
                  <a:srgbClr val="1F2A3D"/>
                </a:solidFill>
                <a:latin typeface="MiSans" charset="-122"/>
                <a:ea typeface="MiSans" charset="-122"/>
              </a:rPr>
              <a:t>研究思路、技术路线和伦理规范</a:t>
            </a:r>
            <a:r>
              <a:rPr lang="en-US" sz="1300" noProof="1">
                <a:solidFill>
                  <a:srgbClr val="1F2A3D"/>
                </a:solidFill>
                <a:latin typeface="MiSans" charset="-122"/>
                <a:ea typeface="MiSans" charset="-122"/>
              </a:rPr>
              <a:t>提出宝贵意见</a:t>
            </a:r>
            <a:endParaRPr lang="en-US" sz="1300" noProof="1"/>
          </a:p>
        </p:txBody>
      </p:sp>
      <p:sp>
        <p:nvSpPr>
          <p:cNvPr id="20" name="ft-band"/>
          <p:cNvSpPr/>
          <p:nvPr/>
        </p:nvSpPr>
        <p:spPr>
          <a:xfrm>
            <a:off x="0" y="6375400"/>
            <a:ext cx="12192000" cy="482600"/>
          </a:xfrm>
          <a:prstGeom prst="rect">
            <a:avLst/>
          </a:prstGeom>
          <a:solidFill>
            <a:srgbClr val="003378"/>
          </a:solidFill>
          <a:ln>
            <a:noFill/>
          </a:ln>
        </p:spPr>
      </p:sp>
      <p:sp>
        <p:nvSpPr>
          <p:cNvPr id="21" name="ft-text"/>
          <p:cNvSpPr txBox="1"/>
          <p:nvPr/>
        </p:nvSpPr>
        <p:spPr>
          <a:xfrm>
            <a:off x="508000" y="6375400"/>
            <a:ext cx="1016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基于多智能体协同技术的模拟课堂教学研究</a:t>
            </a:r>
            <a:endParaRPr lang="en-US" sz="1250" noProof="1"/>
          </a:p>
        </p:txBody>
      </p:sp>
      <p:sp>
        <p:nvSpPr>
          <p:cNvPr id="22" name="ft-page"/>
          <p:cNvSpPr txBox="1"/>
          <p:nvPr/>
        </p:nvSpPr>
        <p:spPr>
          <a:xfrm>
            <a:off x="11176000" y="6375400"/>
            <a:ext cx="762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15 / 16</a:t>
            </a:r>
            <a:endParaRPr lang="en-US" sz="11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circle-1"/>
          <p:cNvSpPr/>
          <p:nvPr/>
        </p:nvSpPr>
        <p:spPr>
          <a:xfrm>
            <a:off x="9144000" y="-1778000"/>
            <a:ext cx="5080000" cy="5080000"/>
          </a:xfrm>
          <a:prstGeom prst="ellipse">
            <a:avLst/>
          </a:prstGeom>
          <a:solidFill>
            <a:srgbClr val="FFFFFF">
              <a:alpha val="7059"/>
            </a:srgbClr>
          </a:solidFill>
          <a:ln>
            <a:noFill/>
          </a:ln>
        </p:spPr>
      </p:sp>
      <p:sp>
        <p:nvSpPr>
          <p:cNvPr id="3" name="deco-circle-2"/>
          <p:cNvSpPr/>
          <p:nvPr/>
        </p:nvSpPr>
        <p:spPr>
          <a:xfrm>
            <a:off x="-1778000" y="4318000"/>
            <a:ext cx="4318000" cy="4318000"/>
          </a:xfrm>
          <a:prstGeom prst="ellipse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</p:sp>
      <p:sp>
        <p:nvSpPr>
          <p:cNvPr id="4" name="thanks"/>
          <p:cNvSpPr txBox="1"/>
          <p:nvPr/>
        </p:nvSpPr>
        <p:spPr>
          <a:xfrm>
            <a:off x="1397000" y="2286000"/>
            <a:ext cx="9398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谢谢聆听</a:t>
            </a:r>
            <a:endParaRPr lang="en-US" sz="4000" noProof="1"/>
          </a:p>
        </p:txBody>
      </p:sp>
      <p:sp>
        <p:nvSpPr>
          <p:cNvPr id="5" name="accent-bar"/>
          <p:cNvSpPr/>
          <p:nvPr/>
        </p:nvSpPr>
        <p:spPr>
          <a:xfrm>
            <a:off x="5461000" y="3276600"/>
            <a:ext cx="1270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sub"/>
          <p:cNvSpPr txBox="1"/>
          <p:nvPr/>
        </p:nvSpPr>
        <p:spPr>
          <a:xfrm>
            <a:off x="1397000" y="3556000"/>
            <a:ext cx="939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91D6F4"/>
                </a:solidFill>
                <a:latin typeface="MiSans" charset="-122"/>
                <a:ea typeface="MiSans" charset="-122"/>
              </a:rPr>
              <a:t>恳请各位专家批评指正</a:t>
            </a:r>
            <a:endParaRPr lang="en-US" sz="1700" noProof="1"/>
          </a:p>
        </p:txBody>
      </p:sp>
      <p:sp>
        <p:nvSpPr>
          <p:cNvPr id="7" name="quote"/>
          <p:cNvSpPr txBox="1"/>
          <p:nvPr/>
        </p:nvSpPr>
        <p:spPr>
          <a:xfrm>
            <a:off x="1397000" y="4318000"/>
            <a:ext cx="939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FFFFFF">
                    <a:alpha val="70196"/>
                  </a:srgbClr>
                </a:solidFill>
                <a:latin typeface="MiSans" charset="-122"/>
                <a:ea typeface="MiSans" charset="-122"/>
              </a:rPr>
              <a:t>在真实课堂发生之前，让教学设计先在虚拟学生中"跑一遍"</a:t>
            </a:r>
            <a:endParaRPr lang="en-US" sz="1300" noProof="1"/>
          </a:p>
        </p:txBody>
      </p:sp>
      <p:sp>
        <p:nvSpPr>
          <p:cNvPr id="8" name="sys"/>
          <p:cNvSpPr txBox="1"/>
          <p:nvPr/>
        </p:nvSpPr>
        <p:spPr>
          <a:xfrm>
            <a:off x="1397000" y="5740400"/>
            <a:ext cx="939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FFFFFF">
                    <a:alpha val="60000"/>
                  </a:srgbClr>
                </a:solidFill>
                <a:latin typeface="MiSans" charset="-122"/>
                <a:ea typeface="MiSans" charset="-122"/>
              </a:rPr>
              <a:t>基于多智能体协同技术的模拟课堂教学研究 · 项目整体介绍 · 2026年8月</a:t>
            </a:r>
            <a:endParaRPr lang="en-US" sz="1150" noProof="1"/>
          </a:p>
        </p:txBody>
      </p:sp>
      <p:sp>
        <p:nvSpPr>
          <p:cNvPr id="9" name="pg"/>
          <p:cNvSpPr txBox="1"/>
          <p:nvPr/>
        </p:nvSpPr>
        <p:spPr>
          <a:xfrm>
            <a:off x="10922000" y="62484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FFFFFF">
                    <a:alpha val="60000"/>
                  </a:srgbClr>
                </a:solidFill>
                <a:latin typeface="MiSans" charset="-122"/>
                <a:ea typeface="MiSans" charset="-122"/>
              </a:rPr>
              <a:t>16 / 16</a:t>
            </a:r>
            <a:endParaRPr lang="en-US" sz="11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4165</Words>
  <Application>WPS 文字</Application>
  <PresentationFormat/>
  <Paragraphs>420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MiSans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基于多智能体协同技术的模拟课堂教学研究</dc:title>
  <dc:creator/>
  <cp:lastModifiedBy>K</cp:lastModifiedBy>
  <cp:revision>3</cp:revision>
  <dcterms:created xsi:type="dcterms:W3CDTF">2026-08-31T04:22:17Z</dcterms:created>
  <dcterms:modified xsi:type="dcterms:W3CDTF">2026-08-31T04:22:17Z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ICV">
    <vt:lpwstr>100EB98065306B0A13FF946A149A0D2B_42</vt:lpwstr>
  </property>
  <property fmtid="{D5CDD505-2E9C-101B-9397-08002B2CF9AE}" pid="4" name="KSOProductBuildVer">
    <vt:lpwstr>2052-12.1.22218.22218</vt:lpwstr>
  </property>
</Properties>
</file>